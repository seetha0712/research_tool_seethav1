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atabricks.com/blog/multi-agent-supervisor-architecture-orchestrating-enterprise-ai-sca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803/bank-profits-face-170bn-hit-from-ai---mckinsey?utm_medium=rssfinextra&amp;utm_source=finextrafe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pressarticle/107637/aimi-upgrades-change-management-platform?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ckinsey.com/industries/financial-services/our-insights/global-banking-annual-revie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if.com/LinkClick.aspx?fileticket=Ra0C9ftkfj0%3D&amp;portali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nstitute.bankofamerica.com/content/dam/economic-insights/ai-impact-on-economy.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pglobal.com/en/research-insights/special-reports/ai-and-banking-leaders-will-soon-pull-away-from-the-pac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videntinsights.com/bankingbrief/heres-the-2025-evident-ai-inde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lobal.fujitsu/en-global/pr/news/2025/10/06-0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oj.or.jp/en/research/brp/fsr/data/fsrb250930.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lover.ai/mufg-ai-strategy-analysis-of-dominance-in-financial-ai/"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introducing-company-knowledg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japan-economic-blueprin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guardian.com/technology/2025/oct/21/openai-chatgpt-web-browser-atla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news/salesforce-anthropic-expanded-partnershi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pressarticle/107663/ibm-and-groq-partner-up-to-accelerate-enterprise-ai-deployment?utm_medium=rssfinextra&amp;utm_source=finextrafee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ckinsey.com/capabilities/quantumblack/our-insights/the-agentic-commerce-opportunity-how-ai-agents-are-ushering-in-a-new-era-for-consumers-and-merchant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chnologyreview.com/2025/09/04/1123023/imagining-the-future-of-banking-with-agentic-ai/"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nvestors.soundhound.com/news-releases/news-release-details/research-finds-two-three-us-banking-executives-believe-agentic"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eloitte.com/us/en/insights/industry/financial-services/agentic-ai-banking.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nstitute.bankofamerica.com/content/dam/transformation/agentic-ai-in-the-workplace.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ired.com/story/uncanny-valley-podcast-how-data-centers-actually-wor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22</a:t>
            </a:r>
          </a:p>
          <a:p>
            <a:pPr lvl="1"/>
            <a:r>
              <a:t>Uncategorized: 1</a:t>
            </a:r>
          </a:p>
          <a:p>
            <a:pPr lvl="1"/>
            <a:r>
              <a:t>AI &amp; GenAI Trends: 0</a:t>
            </a:r>
          </a:p>
          <a:p>
            <a:pPr lvl="1"/>
            <a:r>
              <a:t>AI in Financial Institutions: 10</a:t>
            </a:r>
          </a:p>
          <a:p>
            <a:pPr lvl="1"/>
            <a:r>
              <a:t>Leading AI Innovators: 4</a:t>
            </a:r>
          </a:p>
          <a:p>
            <a:pPr lvl="1"/>
            <a:r>
              <a:t>Agentic AI: 6</a:t>
            </a:r>
          </a:p>
          <a:p>
            <a:pPr lvl="1"/>
            <a:r>
              <a:t>Broader AI Topics: 1</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Multi-Agent Supervisor Architecture: Orchestrating Enterprise AI at Scale</a:t>
            </a:r>
          </a:p>
        </p:txBody>
      </p:sp>
      <p:sp>
        <p:nvSpPr>
          <p:cNvPr id="3" name="TextBox 2"/>
          <p:cNvSpPr txBox="1"/>
          <p:nvPr/>
        </p:nvSpPr>
        <p:spPr>
          <a:xfrm>
            <a:off x="640080" y="1828799"/>
            <a:ext cx="7315200" cy="731520"/>
          </a:xfrm>
          <a:prstGeom prst="rect">
            <a:avLst/>
          </a:prstGeom>
          <a:noFill/>
        </p:spPr>
        <p:txBody>
          <a:bodyPr wrap="square">
            <a:spAutoFit/>
          </a:bodyPr>
          <a:lstStyle/>
          <a:p>
            <a:r>
              <a:rPr sz="1600"/>
              <a:t>Multi-Agent Supervisor Architecture: Orchestrating Enterprise AI at Scale</a:t>
            </a:r>
          </a:p>
        </p:txBody>
      </p:sp>
      <p:sp>
        <p:nvSpPr>
          <p:cNvPr id="4" name="TextBox 3"/>
          <p:cNvSpPr txBox="1"/>
          <p:nvPr/>
        </p:nvSpPr>
        <p:spPr>
          <a:xfrm>
            <a:off x="640080" y="2651760"/>
            <a:ext cx="7315200" cy="3840480"/>
          </a:xfrm>
          <a:prstGeom prst="rect">
            <a:avLst/>
          </a:prstGeom>
          <a:noFill/>
        </p:spPr>
        <p:txBody>
          <a:bodyPr wrap="square">
            <a:spAutoFit/>
          </a:bodyPr>
          <a:lstStyle/>
          <a:p>
            <a:pPr/>
            <a:r>
              <a:t>BASF, a leading German chemical company, has partnered with Databricks to implement a multi-agent AI solution within its Coatings division, enhancing productivity and decision-making through advanced analytics. The Marketmind project, focusing on the Sales &amp; Marketing division, integrates structured and unstructured data to provide sales teams with actionable insights via Microsoft Teams, improving customer interactions and market responsiveness. This system leverages Databricks' Mosaic AI framework and Genie agents to manage complex data landscapes, ensuring governance and compliance while facilitating collaboration across BASF's global operations. The initiative is set to expand beyond sales to other areas like Supply Chain and Procurement, with future plans to integrate Agent Bricks for streamlined AI agent system development.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databricks.com/blog/multi-agent-supervisor-architecture-orchestrating-enterprise-ai-scale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Bank profits face $170bn hit from AI - McKinsey</a:t>
            </a:r>
          </a:p>
        </p:txBody>
      </p:sp>
      <p:sp>
        <p:nvSpPr>
          <p:cNvPr id="3" name="TextBox 2"/>
          <p:cNvSpPr txBox="1"/>
          <p:nvPr/>
        </p:nvSpPr>
        <p:spPr>
          <a:xfrm>
            <a:off x="640080" y="1828799"/>
            <a:ext cx="7315200" cy="731520"/>
          </a:xfrm>
          <a:prstGeom prst="rect">
            <a:avLst/>
          </a:prstGeom>
          <a:noFill/>
        </p:spPr>
        <p:txBody>
          <a:bodyPr wrap="square">
            <a:spAutoFit/>
          </a:bodyPr>
          <a:lstStyle/>
          <a:p>
            <a:r>
              <a:rPr sz="1600"/>
              <a:t>Bank profits face $170bn hit from AI - McKinsey</a:t>
            </a:r>
          </a:p>
        </p:txBody>
      </p:sp>
      <p:sp>
        <p:nvSpPr>
          <p:cNvPr id="4" name="TextBox 3"/>
          <p:cNvSpPr txBox="1"/>
          <p:nvPr/>
        </p:nvSpPr>
        <p:spPr>
          <a:xfrm>
            <a:off x="640080" y="2651760"/>
            <a:ext cx="7315200" cy="3840480"/>
          </a:xfrm>
          <a:prstGeom prst="rect">
            <a:avLst/>
          </a:prstGeom>
          <a:noFill/>
        </p:spPr>
        <p:txBody>
          <a:bodyPr wrap="square">
            <a:spAutoFit/>
          </a:bodyPr>
          <a:lstStyle/>
          <a:p>
            <a:pPr/>
            <a:r>
              <a:t>A report from McKinsey warns that banks could lose up to $170 billion if they fail to adapt to consumers' increased use of AI for financial optimization, including agentic AI and autonomous bots. McKinsey highlights that $23 trillion of the $70 trillion in the consumer banking sector is held in zero interest accounts, and the use of AI could prompt consumers to move their money, potentially reducing banks' bottom line by 9%. This shift could push average returns for banks below the cost of capital. Although AI adoption could initially save banks 15% to 20% in operating costs, these benefits may diminish over time due to competition.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finextra.com/newsarticle/46803/bank-profits-face-170bn-hit-from-ai---mckinsey?utm_medium=rssfinextra&amp;utm_source=finextrafeed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AiMi upgrades change management platform</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AiMi upgrades change management platform</a:t>
            </a:r>
          </a:p>
        </p:txBody>
      </p:sp>
      <p:sp>
        <p:nvSpPr>
          <p:cNvPr id="4" name="TextBox 3"/>
          <p:cNvSpPr txBox="1"/>
          <p:nvPr/>
        </p:nvSpPr>
        <p:spPr>
          <a:xfrm>
            <a:off x="640080" y="2651760"/>
            <a:ext cx="7315200" cy="3840480"/>
          </a:xfrm>
          <a:prstGeom prst="rect">
            <a:avLst/>
          </a:prstGeom>
          <a:noFill/>
        </p:spPr>
        <p:txBody>
          <a:bodyPr wrap="square">
            <a:spAutoFit/>
          </a:bodyPr>
          <a:lstStyle/>
          <a:p>
            <a:pPr/>
            <a:r>
              <a:t>AiMi, a fintech company specializing in agentic AI, has upgraded its market change management platform to offer an end-to-end agentic workflow, enhancing the efficiency of tracking and managing exchange- and vendor-driven changes. The new version includes digital agents that interpret unstructured notifications, identify impactful changes, and assess their business and technical impacts, thereby transforming manual processes into swift, actionable tasks. These agents leverage AiMi’s Service Catalogue and subject-matter expertise to ensure changes are prioritized and contextualized accurately, allowing firms to orchestrate market changes with greater precision and efficiency. The platform's integration capabilities with tools like Jira enable seamless handoff of actionable changes to internal teams, significantly reducing the time required for manual reviews.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finextra.com/pressarticle/107637/aimi-upgrades-change-management-platform?utm_medium=rssfinextra&amp;utm_source=finextrafeed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Global Banking Annual Review 2025: Why precision, not heft, defines the future of banking</a:t>
            </a:r>
          </a:p>
        </p:txBody>
      </p:sp>
      <p:sp>
        <p:nvSpPr>
          <p:cNvPr id="3" name="TextBox 2"/>
          <p:cNvSpPr txBox="1"/>
          <p:nvPr/>
        </p:nvSpPr>
        <p:spPr>
          <a:xfrm>
            <a:off x="640080" y="2240280"/>
            <a:ext cx="7315200" cy="731520"/>
          </a:xfrm>
          <a:prstGeom prst="rect">
            <a:avLst/>
          </a:prstGeom>
          <a:noFill/>
        </p:spPr>
        <p:txBody>
          <a:bodyPr wrap="square">
            <a:spAutoFit/>
          </a:bodyPr>
          <a:lstStyle/>
          <a:p>
            <a:r>
              <a:rPr sz="1600"/>
              <a:t>Global Banking Annual Review 2025: Why precision, not heft, defines the future of banking</a:t>
            </a:r>
          </a:p>
        </p:txBody>
      </p:sp>
      <p:sp>
        <p:nvSpPr>
          <p:cNvPr id="4" name="TextBox 3"/>
          <p:cNvSpPr txBox="1"/>
          <p:nvPr/>
        </p:nvSpPr>
        <p:spPr>
          <a:xfrm>
            <a:off x="640080" y="3063240"/>
            <a:ext cx="7315200" cy="3840480"/>
          </a:xfrm>
          <a:prstGeom prst="rect">
            <a:avLst/>
          </a:prstGeom>
          <a:noFill/>
        </p:spPr>
        <p:txBody>
          <a:bodyPr wrap="square">
            <a:spAutoFit/>
          </a:bodyPr>
          <a:lstStyle/>
          <a:p>
            <a:pPr/>
            <a:r>
              <a:t>Banks need to prepare for the next growth curve. Global Banking Annual Review 2025 shows how a targeted approach can help them thrive.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mckinsey.com/industries/financial-services/our-insights/global-banking-annual-review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[PDF] October 2025 - IIF</a:t>
            </a:r>
          </a:p>
        </p:txBody>
      </p:sp>
      <p:sp>
        <p:nvSpPr>
          <p:cNvPr id="3" name="TextBox 2"/>
          <p:cNvSpPr txBox="1"/>
          <p:nvPr/>
        </p:nvSpPr>
        <p:spPr>
          <a:xfrm>
            <a:off x="640080" y="1828799"/>
            <a:ext cx="7315200" cy="731520"/>
          </a:xfrm>
          <a:prstGeom prst="rect">
            <a:avLst/>
          </a:prstGeom>
          <a:noFill/>
        </p:spPr>
        <p:txBody>
          <a:bodyPr wrap="square">
            <a:spAutoFit/>
          </a:bodyPr>
          <a:lstStyle/>
          <a:p>
            <a:r>
              <a:rPr sz="1600"/>
              <a:t>[PDF] October 2025 - IIF</a:t>
            </a:r>
          </a:p>
        </p:txBody>
      </p:sp>
      <p:sp>
        <p:nvSpPr>
          <p:cNvPr id="4" name="TextBox 3"/>
          <p:cNvSpPr txBox="1"/>
          <p:nvPr/>
        </p:nvSpPr>
        <p:spPr>
          <a:xfrm>
            <a:off x="640080" y="2651760"/>
            <a:ext cx="7315200" cy="3840480"/>
          </a:xfrm>
          <a:prstGeom prst="rect">
            <a:avLst/>
          </a:prstGeom>
          <a:noFill/>
        </p:spPr>
        <p:txBody>
          <a:bodyPr wrap="square">
            <a:spAutoFit/>
          </a:bodyPr>
          <a:lstStyle/>
          <a:p>
            <a:pPr/>
            <a:r>
              <a:t>the boundaries of artificial intelligence capabilities. These advancements enable AI to perform more complex tasks autonomously and improve its ability to generate human-like text and responses. The integration of open-weight models allows for greater customization and adaptability, enhancing the potential applications of AI across various industries.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iif.com/LinkClick.aspx?fileticket=Ra0C9ftkfj0%3D&amp;portalid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Economic shifts in the age of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Economic shifts in the age of AI</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indicates that AI adoption is expanding beyond just large corporations, suggesting significant potential for further growth. It highlights that the increasing demand for data centers is a key factor in this trend. The broader adoption of AI across various sectors implies that there is still considerable room for development and integration in the coming years.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institute.bankofamerica.com/content/dam/economic-insights/ai-impact-on-economy.pdf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AI and banking: Leaders will soon pull away from the pack</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 and banking: Leaders will soon pull away from the pack</a:t>
            </a:r>
          </a:p>
        </p:txBody>
      </p:sp>
      <p:sp>
        <p:nvSpPr>
          <p:cNvPr id="4" name="TextBox 3"/>
          <p:cNvSpPr txBox="1"/>
          <p:nvPr/>
        </p:nvSpPr>
        <p:spPr>
          <a:xfrm>
            <a:off x="640080" y="2651760"/>
            <a:ext cx="7315200" cy="3840480"/>
          </a:xfrm>
          <a:prstGeom prst="rect">
            <a:avLst/>
          </a:prstGeom>
          <a:noFill/>
        </p:spPr>
        <p:txBody>
          <a:bodyPr wrap="square">
            <a:spAutoFit/>
          </a:bodyPr>
          <a:lstStyle/>
          <a:p>
            <a:pPr/>
            <a:r>
              <a:t>Banks are increasingly adopting advanced AI technologies to enhance operational efficiency, which is expected to become a key differentiator in the industry within the next five years. However, this shift also introduces heightened risks, including potential cybersecurity threats and ethical concerns. As AI becomes more integral to banking operations, institutions that effectively manage these risks while leveraging AI's capabilities will likely emerge as industry leaders.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spglobal.com/en/research-insights/special-reports/ai-and-banking-leaders-will-soon-pull-away-from-the-pack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Evident - 🚨Here's the 2025 Evident AI Index🚨 - Banking Brief</a:t>
            </a:r>
          </a:p>
        </p:txBody>
      </p:sp>
      <p:sp>
        <p:nvSpPr>
          <p:cNvPr id="3" name="TextBox 2"/>
          <p:cNvSpPr txBox="1"/>
          <p:nvPr/>
        </p:nvSpPr>
        <p:spPr>
          <a:xfrm>
            <a:off x="640080" y="1828799"/>
            <a:ext cx="7315200" cy="731520"/>
          </a:xfrm>
          <a:prstGeom prst="rect">
            <a:avLst/>
          </a:prstGeom>
          <a:noFill/>
        </p:spPr>
        <p:txBody>
          <a:bodyPr wrap="square">
            <a:spAutoFit/>
          </a:bodyPr>
          <a:lstStyle/>
          <a:p>
            <a:r>
              <a:rPr sz="1600"/>
              <a:t>Evident - 🚨Here's the 2025 Evident AI Index🚨 - Banking Brief</a:t>
            </a:r>
          </a:p>
        </p:txBody>
      </p:sp>
      <p:sp>
        <p:nvSpPr>
          <p:cNvPr id="4" name="TextBox 3"/>
          <p:cNvSpPr txBox="1"/>
          <p:nvPr/>
        </p:nvSpPr>
        <p:spPr>
          <a:xfrm>
            <a:off x="640080" y="2651760"/>
            <a:ext cx="7315200" cy="3840480"/>
          </a:xfrm>
          <a:prstGeom prst="rect">
            <a:avLst/>
          </a:prstGeom>
          <a:noFill/>
        </p:spPr>
        <p:txBody>
          <a:bodyPr wrap="square">
            <a:spAutoFit/>
          </a:bodyPr>
          <a:lstStyle/>
          <a:p>
            <a:pPr/>
            <a:r>
              <a:t>The 2025 Evident AI Index reveals that JPMorganChase, Capital One, and RBC are leading in AI adoption among banks, with North American banks dominating the top rankings. The index highlights a significant 25% increase in AI headcount across the 50 banks tracked, indicating a growing emphasis on talent acquisition to drive AI initiatives. The top 10 banks have doubled their AI adoption scores compared to the average, reflecting substantial investments and returns on AI projects. The report also notes that Canadian and American banks have an average score 20% higher than their global counterparts, attributed to early and continued investment in AI infrastructure and talent.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evidentinsights.com/bankingbrief/heres-the-2025-evident-ai-index/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Fujitsu and Sony Bank partner to integrate generative AI ...</a:t>
            </a:r>
          </a:p>
        </p:txBody>
      </p:sp>
      <p:sp>
        <p:nvSpPr>
          <p:cNvPr id="3" name="TextBox 2"/>
          <p:cNvSpPr txBox="1"/>
          <p:nvPr/>
        </p:nvSpPr>
        <p:spPr>
          <a:xfrm>
            <a:off x="640080" y="1828799"/>
            <a:ext cx="7315200" cy="731520"/>
          </a:xfrm>
          <a:prstGeom prst="rect">
            <a:avLst/>
          </a:prstGeom>
          <a:noFill/>
        </p:spPr>
        <p:txBody>
          <a:bodyPr wrap="square">
            <a:spAutoFit/>
          </a:bodyPr>
          <a:lstStyle/>
          <a:p>
            <a:r>
              <a:rPr sz="1600"/>
              <a:t>Fujitsu and Sony Bank partner to integrate generative AI ...</a:t>
            </a:r>
          </a:p>
        </p:txBody>
      </p:sp>
      <p:sp>
        <p:nvSpPr>
          <p:cNvPr id="4" name="TextBox 3"/>
          <p:cNvSpPr txBox="1"/>
          <p:nvPr/>
        </p:nvSpPr>
        <p:spPr>
          <a:xfrm>
            <a:off x="640080" y="2651760"/>
            <a:ext cx="7315200" cy="3840480"/>
          </a:xfrm>
          <a:prstGeom prst="rect">
            <a:avLst/>
          </a:prstGeom>
          <a:noFill/>
        </p:spPr>
        <p:txBody>
          <a:bodyPr wrap="square">
            <a:spAutoFit/>
          </a:bodyPr>
          <a:lstStyle/>
          <a:p>
            <a:pPr/>
            <a:r>
              <a:t>Fujitsu Limited and Sony Bank, Inc. have announced the integration of generative AI into the development of Sony Bank's new core banking system, leveraging Fujitsu's core banking solution. This initiative, which began in September 2025, aims to achieve a 20% reduction in development times and enhance service delivery by April 2026. Following a successful cloud shift in May 2025, Sony Bank's systems now offer increased flexibility and scalability. The collaboration seeks to establish an AI-driven development ecosystem, utilizing Fujitsu's knowledge graph-enhanced RAG technology to improve AI accuracy and efficiency across all core banking functions.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global.fujitsu/en-global/pr/news/2025/10/06-01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Use and Risk Management of Generative AI by Japanese ...</a:t>
            </a:r>
          </a:p>
        </p:txBody>
      </p:sp>
      <p:sp>
        <p:nvSpPr>
          <p:cNvPr id="3" name="TextBox 2"/>
          <p:cNvSpPr txBox="1"/>
          <p:nvPr/>
        </p:nvSpPr>
        <p:spPr>
          <a:xfrm>
            <a:off x="640080" y="1828799"/>
            <a:ext cx="7315200" cy="731520"/>
          </a:xfrm>
          <a:prstGeom prst="rect">
            <a:avLst/>
          </a:prstGeom>
          <a:noFill/>
        </p:spPr>
        <p:txBody>
          <a:bodyPr wrap="square">
            <a:spAutoFit/>
          </a:bodyPr>
          <a:lstStyle/>
          <a:p>
            <a:r>
              <a:rPr sz="1600"/>
              <a:t>Use and Risk Management of Generative AI by Japanese ...</a:t>
            </a:r>
          </a:p>
        </p:txBody>
      </p:sp>
      <p:sp>
        <p:nvSpPr>
          <p:cNvPr id="4" name="TextBox 3"/>
          <p:cNvSpPr txBox="1"/>
          <p:nvPr/>
        </p:nvSpPr>
        <p:spPr>
          <a:xfrm>
            <a:off x="640080" y="2651760"/>
            <a:ext cx="7315200" cy="3840480"/>
          </a:xfrm>
          <a:prstGeom prst="rect">
            <a:avLst/>
          </a:prstGeom>
          <a:noFill/>
        </p:spPr>
        <p:txBody>
          <a:bodyPr wrap="square">
            <a:spAutoFit/>
          </a:bodyPr>
          <a:lstStyle/>
          <a:p>
            <a:pPr/>
            <a:r>
              <a:t>As the global trend of adopting Generative AI (GenAI) intensifies, its use is becoming increasingly widespread across various sectors. Organizations are exploring innovative ways to integrate GenAI into their operations to enhance efficiency and creativity. This growing adoption reflects the technology's potential to transform industries by offering new solutions and capabilities.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boj.or.jp/en/research/brp/fsr/data/fsrb250930.pdf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MUFG’s AI Strategy: Analysis of Dominance in Financial AI ...</a:t>
            </a:r>
          </a:p>
        </p:txBody>
      </p:sp>
      <p:sp>
        <p:nvSpPr>
          <p:cNvPr id="3" name="TextBox 2"/>
          <p:cNvSpPr txBox="1"/>
          <p:nvPr/>
        </p:nvSpPr>
        <p:spPr>
          <a:xfrm>
            <a:off x="640080" y="1828799"/>
            <a:ext cx="7315200" cy="731520"/>
          </a:xfrm>
          <a:prstGeom prst="rect">
            <a:avLst/>
          </a:prstGeom>
          <a:noFill/>
        </p:spPr>
        <p:txBody>
          <a:bodyPr wrap="square">
            <a:spAutoFit/>
          </a:bodyPr>
          <a:lstStyle/>
          <a:p>
            <a:r>
              <a:rPr sz="1600"/>
              <a:t>MUFG’s AI Strategy: Analysis of Dominance in Financial AI ...</a:t>
            </a:r>
          </a:p>
        </p:txBody>
      </p:sp>
      <p:sp>
        <p:nvSpPr>
          <p:cNvPr id="4" name="TextBox 3"/>
          <p:cNvSpPr txBox="1"/>
          <p:nvPr/>
        </p:nvSpPr>
        <p:spPr>
          <a:xfrm>
            <a:off x="640080" y="2651760"/>
            <a:ext cx="7315200" cy="3840480"/>
          </a:xfrm>
          <a:prstGeom prst="rect">
            <a:avLst/>
          </a:prstGeom>
          <a:noFill/>
        </p:spPr>
        <p:txBody>
          <a:bodyPr wrap="square">
            <a:spAutoFit/>
          </a:bodyPr>
          <a:lstStyle/>
          <a:p>
            <a:pPr/>
            <a:r>
              <a:t>MUFG's AI strategy is focused on becoming a leader in financial services by integrating cutting-edge research, cloud infrastructure, and advanced agentic AI technologies. The goal is to transform MUFG into a next-generation megabank that leverages these technologies for enhanced financial operations and services. This approach positions MUFG to potentially dominate the financial sector through innovation and technological advancement.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klover.ai/mufg-ai-strategy-analysis-of-dominance-in-financial-ai/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Work smarter with your company knowledge in ChatGPT</a:t>
            </a:r>
          </a:p>
        </p:txBody>
      </p:sp>
      <p:sp>
        <p:nvSpPr>
          <p:cNvPr id="3" name="TextBox 2"/>
          <p:cNvSpPr txBox="1"/>
          <p:nvPr/>
        </p:nvSpPr>
        <p:spPr>
          <a:xfrm>
            <a:off x="640080" y="1828799"/>
            <a:ext cx="7315200" cy="731520"/>
          </a:xfrm>
          <a:prstGeom prst="rect">
            <a:avLst/>
          </a:prstGeom>
          <a:noFill/>
        </p:spPr>
        <p:txBody>
          <a:bodyPr wrap="square">
            <a:spAutoFit/>
          </a:bodyPr>
          <a:lstStyle/>
          <a:p>
            <a:r>
              <a:rPr sz="1600"/>
              <a:t>Work smarter with your company knowledge in ChatGPT</a:t>
            </a:r>
          </a:p>
        </p:txBody>
      </p:sp>
      <p:sp>
        <p:nvSpPr>
          <p:cNvPr id="4" name="TextBox 3"/>
          <p:cNvSpPr txBox="1"/>
          <p:nvPr/>
        </p:nvSpPr>
        <p:spPr>
          <a:xfrm>
            <a:off x="640080" y="2651760"/>
            <a:ext cx="7315200" cy="3840480"/>
          </a:xfrm>
          <a:prstGeom prst="rect">
            <a:avLst/>
          </a:prstGeom>
          <a:noFill/>
        </p:spPr>
        <p:txBody>
          <a:bodyPr wrap="square">
            <a:spAutoFit/>
          </a:bodyPr>
          <a:lstStyle/>
          <a:p>
            <a:pPr/>
            <a:r>
              <a:t>Company knowledge brings context from your apps into ChatGPT for answers specific to your business, with clear citations, security, privacy, and admin controls. Available now for Business, Enterprise, and Edu users.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openai.com/index/introducing-company-knowledge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AI in Japan—OpenAI’s Japan Economic Blueprint</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 in Japan—OpenAI’s Japan Economic Blueprint</a:t>
            </a:r>
          </a:p>
        </p:txBody>
      </p:sp>
      <p:sp>
        <p:nvSpPr>
          <p:cNvPr id="4" name="TextBox 3"/>
          <p:cNvSpPr txBox="1"/>
          <p:nvPr/>
        </p:nvSpPr>
        <p:spPr>
          <a:xfrm>
            <a:off x="640080" y="2651760"/>
            <a:ext cx="7315200" cy="3840480"/>
          </a:xfrm>
          <a:prstGeom prst="rect">
            <a:avLst/>
          </a:prstGeom>
          <a:noFill/>
        </p:spPr>
        <p:txBody>
          <a:bodyPr wrap="square">
            <a:spAutoFit/>
          </a:bodyPr>
          <a:lstStyle/>
          <a:p>
            <a:pPr/>
            <a:r>
              <a:t>OpenAI’s Japan Economic Blueprint outlines how Japan can harness AI to boost innovation, strengthen competitiveness, and enable sustainable, inclusive growth.</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openai.com/index/japan-economic-blueprint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ChatGPT Atlas: OpenAI launches web browser centered around its chatbot</a:t>
            </a:r>
          </a:p>
        </p:txBody>
      </p:sp>
      <p:sp>
        <p:nvSpPr>
          <p:cNvPr id="3" name="TextBox 2"/>
          <p:cNvSpPr txBox="1"/>
          <p:nvPr/>
        </p:nvSpPr>
        <p:spPr>
          <a:xfrm>
            <a:off x="640080" y="1828799"/>
            <a:ext cx="7315200" cy="731520"/>
          </a:xfrm>
          <a:prstGeom prst="rect">
            <a:avLst/>
          </a:prstGeom>
          <a:noFill/>
        </p:spPr>
        <p:txBody>
          <a:bodyPr wrap="square">
            <a:spAutoFit/>
          </a:bodyPr>
          <a:lstStyle/>
          <a:p>
            <a:r>
              <a:rPr sz="1600"/>
              <a:t>ChatGPT Atlas: OpenAI launches web browser centered around its chatbot</a:t>
            </a:r>
          </a:p>
        </p:txBody>
      </p:sp>
      <p:sp>
        <p:nvSpPr>
          <p:cNvPr id="4" name="TextBox 3"/>
          <p:cNvSpPr txBox="1"/>
          <p:nvPr/>
        </p:nvSpPr>
        <p:spPr>
          <a:xfrm>
            <a:off x="640080" y="2651760"/>
            <a:ext cx="7315200" cy="3840480"/>
          </a:xfrm>
          <a:prstGeom prst="rect">
            <a:avLst/>
          </a:prstGeom>
          <a:noFill/>
        </p:spPr>
        <p:txBody>
          <a:bodyPr wrap="square">
            <a:spAutoFit/>
          </a:bodyPr>
          <a:lstStyle/>
          <a:p>
            <a:pPr/>
            <a:r>
              <a:t>OpenAI has launched an AI-powered web browser called ChatGPT Atlas, designed to enhance personalization with a ChatGPT sidebar for user interaction on websites. Initially available on Apple's Mac OS, it will soon expand to Windows, iOS, and Android. The browser includes features like content summarization, product comparison, data analysis, and text editing, alongside a virtual assistant feature called "Agent Mode" for task completion. Users have control over privacy settings, with browsing data not used for training models by default, and Google shares fell 4% following the announcement due to potential competition with its Chrome browser.</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theguardian.com/technology/2025/oct/21/openai-chatgpt-web-browser-atlas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400" b="1"/>
              <a:t>Anthropic and Salesforce expand partnership to bring Claude to regulated industries</a:t>
            </a:r>
          </a:p>
        </p:txBody>
      </p:sp>
      <p:sp>
        <p:nvSpPr>
          <p:cNvPr id="3" name="TextBox 2"/>
          <p:cNvSpPr txBox="1"/>
          <p:nvPr/>
        </p:nvSpPr>
        <p:spPr>
          <a:xfrm>
            <a:off x="640080" y="2240280"/>
            <a:ext cx="7315200" cy="731520"/>
          </a:xfrm>
          <a:prstGeom prst="rect">
            <a:avLst/>
          </a:prstGeom>
          <a:noFill/>
        </p:spPr>
        <p:txBody>
          <a:bodyPr wrap="square">
            <a:spAutoFit/>
          </a:bodyPr>
          <a:lstStyle/>
          <a:p>
            <a:r>
              <a:rPr sz="1600"/>
              <a:t>Anthropic and Salesforce expand partnership to bring Claude to regulated industries</a:t>
            </a:r>
          </a:p>
        </p:txBody>
      </p:sp>
      <p:sp>
        <p:nvSpPr>
          <p:cNvPr id="4" name="TextBox 3"/>
          <p:cNvSpPr txBox="1"/>
          <p:nvPr/>
        </p:nvSpPr>
        <p:spPr>
          <a:xfrm>
            <a:off x="640080" y="3063240"/>
            <a:ext cx="7315200" cy="3840480"/>
          </a:xfrm>
          <a:prstGeom prst="rect">
            <a:avLst/>
          </a:prstGeom>
          <a:noFill/>
        </p:spPr>
        <p:txBody>
          <a:bodyPr wrap="square">
            <a:spAutoFit/>
          </a:bodyPr>
          <a:lstStyle/>
          <a:p>
            <a:pPr/>
            <a:r>
              <a:t>Anthropic and Salesforce have expanded their partnership to integrate Claude, an AI model, into Salesforce's Agentforce platform, targeting regulated industries like financial services, healthcare, and cybersecurity. This integration allows these industries to utilize AI while ensuring data security, with companies such as CrowdStrike and RBC Wealth Management already benefiting from AI-powered customer experiences. The partnership includes initiatives like providing Claude via Amazon Bedrock, building industry-specific AI solutions starting with financial services, and enhancing integration between Claude and Slack. Salesforce is also deploying Claude Code to enhance developer productivity, and Anthropic is using Claude in Slack for internal operations.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anthropic.com/news/salesforce-anthropic-expanded-partnership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IBM and Groq partner up to accelerate enterprise AI deployment</a:t>
            </a:r>
          </a:p>
        </p:txBody>
      </p:sp>
      <p:sp>
        <p:nvSpPr>
          <p:cNvPr id="3" name="TextBox 2"/>
          <p:cNvSpPr txBox="1"/>
          <p:nvPr/>
        </p:nvSpPr>
        <p:spPr>
          <a:xfrm>
            <a:off x="640080" y="1828799"/>
            <a:ext cx="7315200" cy="731520"/>
          </a:xfrm>
          <a:prstGeom prst="rect">
            <a:avLst/>
          </a:prstGeom>
          <a:noFill/>
        </p:spPr>
        <p:txBody>
          <a:bodyPr wrap="square">
            <a:spAutoFit/>
          </a:bodyPr>
          <a:lstStyle/>
          <a:p>
            <a:r>
              <a:rPr sz="1600"/>
              <a:t>IBM and Groq partner up to accelerate enterprise AI deployment</a:t>
            </a:r>
          </a:p>
        </p:txBody>
      </p:sp>
      <p:sp>
        <p:nvSpPr>
          <p:cNvPr id="4" name="TextBox 3"/>
          <p:cNvSpPr txBox="1"/>
          <p:nvPr/>
        </p:nvSpPr>
        <p:spPr>
          <a:xfrm>
            <a:off x="640080" y="2651760"/>
            <a:ext cx="7315200" cy="3840480"/>
          </a:xfrm>
          <a:prstGeom prst="rect">
            <a:avLst/>
          </a:prstGeom>
          <a:noFill/>
        </p:spPr>
        <p:txBody>
          <a:bodyPr wrap="square">
            <a:spAutoFit/>
          </a:bodyPr>
          <a:lstStyle/>
          <a:p>
            <a:pPr/>
            <a:r>
              <a:t>IBM and Groq have announced a strategic partnership to integrate Groq's inference technology, GroqCloud, with IBM's watsonx Orchestrate, offering high-speed AI inference capabilities to clients. This collaboration aims to address challenges in deploying AI agents in sectors like healthcare, finance, and retail by combining Groq's cost-efficient inference technology with IBM's AI orchestration. GroqCloud, powered by its custom LPU, offers over 5X faster inference than traditional GPU systems, enhancing performance and scalability for AI applications. The partnership will also integrate RedHat open source vLLM technology with Groq's architecture to streamline AI inference processes.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finextra.com/pressarticle/107663/ibm-and-groq-partner-up-to-accelerate-enterprise-ai-deployment?utm_medium=rssfinextra&amp;utm_source=finextrafeed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200" b="1"/>
              <a:t>The agentic commerce opportunity: How AI agents are ushering in a new era for consumers and merchants</a:t>
            </a:r>
          </a:p>
        </p:txBody>
      </p:sp>
      <p:sp>
        <p:nvSpPr>
          <p:cNvPr id="3" name="TextBox 2"/>
          <p:cNvSpPr txBox="1"/>
          <p:nvPr/>
        </p:nvSpPr>
        <p:spPr>
          <a:xfrm>
            <a:off x="640080" y="2240280"/>
            <a:ext cx="7315200" cy="731520"/>
          </a:xfrm>
          <a:prstGeom prst="rect">
            <a:avLst/>
          </a:prstGeom>
          <a:noFill/>
        </p:spPr>
        <p:txBody>
          <a:bodyPr wrap="square">
            <a:spAutoFit/>
          </a:bodyPr>
          <a:lstStyle/>
          <a:p>
            <a:r>
              <a:rPr sz="1600"/>
              <a:t>The agentic commerce opportunity: How AI agents are ushering in a new era for consumers and merchants</a:t>
            </a:r>
          </a:p>
        </p:txBody>
      </p:sp>
      <p:sp>
        <p:nvSpPr>
          <p:cNvPr id="4" name="TextBox 3"/>
          <p:cNvSpPr txBox="1"/>
          <p:nvPr/>
        </p:nvSpPr>
        <p:spPr>
          <a:xfrm>
            <a:off x="640080" y="3063240"/>
            <a:ext cx="7315200" cy="3840480"/>
          </a:xfrm>
          <a:prstGeom prst="rect">
            <a:avLst/>
          </a:prstGeom>
          <a:noFill/>
        </p:spPr>
        <p:txBody>
          <a:bodyPr wrap="square">
            <a:spAutoFit/>
          </a:bodyPr>
          <a:lstStyle/>
          <a:p>
            <a:pPr/>
            <a:r>
              <a:t>Agentic AI promises to radically remake the entire shopping experience. Here’s a glimpse into the near future—and what merchants, players, and platforms need to know in order to thrive.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mckinsey.com/capabilities/quantumblack/our-insights/the-agentic-commerce-opportunity-how-ai-agents-are-ushering-in-a-new-era-for-consumers-and-merchants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Reimagining the future of banking with agentic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Reimagining the future of banking with agentic AI</a:t>
            </a:r>
          </a:p>
        </p:txBody>
      </p:sp>
      <p:sp>
        <p:nvSpPr>
          <p:cNvPr id="4" name="TextBox 3"/>
          <p:cNvSpPr txBox="1"/>
          <p:nvPr/>
        </p:nvSpPr>
        <p:spPr>
          <a:xfrm>
            <a:off x="640080" y="2651760"/>
            <a:ext cx="7315200" cy="3840480"/>
          </a:xfrm>
          <a:prstGeom prst="rect">
            <a:avLst/>
          </a:prstGeom>
          <a:noFill/>
        </p:spPr>
        <p:txBody>
          <a:bodyPr wrap="square">
            <a:spAutoFit/>
          </a:bodyPr>
          <a:lstStyle/>
          <a:p>
            <a:pPr/>
            <a:r>
              <a:t>Agentic AI is increasingly being adopted in the banking sector to optimize processes, improve customer experience, and enhance operational efficiency. A survey by MIT Technology Review Insights found that 70% of banking executives report using agentic AI, with significant improvements noted in fraud detection (56%), security (51%), cost reduction, and customer experience (41%). The technology is seen as essential for the survival and success of financial institutions, as it enables large-scale automation beyond what was possible with previous rules-based systems. Leaders emphasize the need for organizations to adapt to these new capabilities to avoid being left behind.</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technologyreview.com/2025/09/04/1123023/imagining-the-future-of-banking-with-agentic-ai/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Research Finds Two in Three US Banking Executives Believe ...</a:t>
            </a:r>
          </a:p>
        </p:txBody>
      </p:sp>
      <p:sp>
        <p:nvSpPr>
          <p:cNvPr id="3" name="TextBox 2"/>
          <p:cNvSpPr txBox="1"/>
          <p:nvPr/>
        </p:nvSpPr>
        <p:spPr>
          <a:xfrm>
            <a:off x="640080" y="1828799"/>
            <a:ext cx="7315200" cy="731520"/>
          </a:xfrm>
          <a:prstGeom prst="rect">
            <a:avLst/>
          </a:prstGeom>
          <a:noFill/>
        </p:spPr>
        <p:txBody>
          <a:bodyPr wrap="square">
            <a:spAutoFit/>
          </a:bodyPr>
          <a:lstStyle/>
          <a:p>
            <a:r>
              <a:rPr sz="1600"/>
              <a:t>Research Finds Two in Three US Banking Executives Believe ...</a:t>
            </a:r>
          </a:p>
        </p:txBody>
      </p:sp>
      <p:sp>
        <p:nvSpPr>
          <p:cNvPr id="4" name="TextBox 3"/>
          <p:cNvSpPr txBox="1"/>
          <p:nvPr/>
        </p:nvSpPr>
        <p:spPr>
          <a:xfrm>
            <a:off x="640080" y="2651760"/>
            <a:ext cx="7315200" cy="3840480"/>
          </a:xfrm>
          <a:prstGeom prst="rect">
            <a:avLst/>
          </a:prstGeom>
          <a:noFill/>
        </p:spPr>
        <p:txBody>
          <a:bodyPr wrap="square">
            <a:spAutoFit/>
          </a:bodyPr>
          <a:lstStyle/>
          <a:p>
            <a:pPr/>
            <a:r>
              <a:t>A recent study by SoundHound AI, conducted by Arizent, reveals that 70% of US banking executives view agentic AI as a significant or game-changing technology for the industry, with 71% believing investment in AI is crucial for competitiveness. Larger banks are leading in agentic AI adoption, with 64% testing or deploying it, compared to 38% of smaller institutions. Key use cases include customer service (59%), employee efficiency (39%), and fraud/risk management (37%), while security, compliance, and integration with legacy systems are top concerns. SoundHound's Amelia 7 platform was positively received, with 88% of respondents finding it valuable and 98% seeing it as an improvement over current technology.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investors.soundhound.com/news-releases/news-release-details/research-finds-two-three-us-banking-executives-believe-agentic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How banks can supercharge intelligent automation with agentic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How banks can supercharge intelligent automation with agentic AI</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discusses the rise of agentic AI, which is being integrated by major tech companies like Amazon, Google, Microsoft, Nvidia, and Salesforce into their offerings, potentially transforming banking processes such as credit underwriting and fraud detection. Despite its potential, real-world applications in banking are still emerging due to challenges like regulatory issues, model risks, and integration with legacy systems. The article highlights that banks can adopt agentic AI through smart overlays, agentic by design approaches, or process redesigns, with companies like BNY, Mastercard, and JPMorgan Chase already experimenting with the technology. The adoption of agentic AI poses risks, including cybersecurity threats and regulatory scrutiny, but with proper governance and strategic deployment, it can revolutionize banking operations.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deloitte.com/us/en/insights/industry/financial-services/agentic-ai-banking.html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[PDF] On the clock: Agentic AI in the workplace | Bank of America Institute</a:t>
            </a:r>
          </a:p>
        </p:txBody>
      </p:sp>
      <p:sp>
        <p:nvSpPr>
          <p:cNvPr id="3" name="TextBox 2"/>
          <p:cNvSpPr txBox="1"/>
          <p:nvPr/>
        </p:nvSpPr>
        <p:spPr>
          <a:xfrm>
            <a:off x="640080" y="1828799"/>
            <a:ext cx="7315200" cy="731520"/>
          </a:xfrm>
          <a:prstGeom prst="rect">
            <a:avLst/>
          </a:prstGeom>
          <a:noFill/>
        </p:spPr>
        <p:txBody>
          <a:bodyPr wrap="square">
            <a:spAutoFit/>
          </a:bodyPr>
          <a:lstStyle/>
          <a:p>
            <a:r>
              <a:rPr sz="1600"/>
              <a:t>[PDF] On the clock: Agentic AI in the workplace | Bank of America Institute</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highlights that individuals in computer and mathematical occupational categories, such as software developers, account for a significant portion (37%) of total Claude conversations. It suggests that sustainable business efficiencies can be achieved by integrating core generative AI technologies with corporate data and processes to enhance workflow and decision-making effectiveness. This information is sourced from BofA Global Research and Anthropic.</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institute.bankofamerica.com/content/dam/transformation/agentic-ai-in-the-workplace.pdf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How Data Centers Actually Work</a:t>
            </a:r>
          </a:p>
        </p:txBody>
      </p:sp>
      <p:sp>
        <p:nvSpPr>
          <p:cNvPr id="3" name="TextBox 2"/>
          <p:cNvSpPr txBox="1"/>
          <p:nvPr/>
        </p:nvSpPr>
        <p:spPr>
          <a:xfrm>
            <a:off x="640080" y="1828799"/>
            <a:ext cx="7315200" cy="731520"/>
          </a:xfrm>
          <a:prstGeom prst="rect">
            <a:avLst/>
          </a:prstGeom>
          <a:noFill/>
        </p:spPr>
        <p:txBody>
          <a:bodyPr wrap="square">
            <a:spAutoFit/>
          </a:bodyPr>
          <a:lstStyle/>
          <a:p>
            <a:r>
              <a:rPr sz="1600"/>
              <a:t>How Data Centers Actually Work</a:t>
            </a:r>
          </a:p>
        </p:txBody>
      </p:sp>
      <p:sp>
        <p:nvSpPr>
          <p:cNvPr id="4" name="TextBox 3"/>
          <p:cNvSpPr txBox="1"/>
          <p:nvPr/>
        </p:nvSpPr>
        <p:spPr>
          <a:xfrm>
            <a:off x="640080" y="2651760"/>
            <a:ext cx="7315200" cy="3840480"/>
          </a:xfrm>
          <a:prstGeom prst="rect">
            <a:avLst/>
          </a:prstGeom>
          <a:noFill/>
        </p:spPr>
        <p:txBody>
          <a:bodyPr wrap="square">
            <a:spAutoFit/>
          </a:bodyPr>
          <a:lstStyle/>
          <a:p>
            <a:pPr/>
            <a:r>
              <a:t>Tech giants like OpenAI, Amazon, Meta, and Microsoft have invested hundreds of billions of dollars in AI data centers, which are essential for running AI models. These data centers are energy-intensive, with some like Meta's Hyperion in Louisiana projected to use massive amounts of power, comparable to half the peak power load of New York City. Concerns are rising over the environmental impact and sustainability of these data centers, as they consume significant energy and water resources, with some regions like Ireland seeing data centers use over 20% of the country's electricity. Despite the rapid expansion, there are doubts about whether consumer demand will match the scale of these investments, with some experts warning of a potential AI bubble.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wired.com/story/uncanny-valley-podcast-how-data-centers-actually-work/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