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ytimes.com/2025/08/13/business/ai-business-payoff-lags.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inextra.com/newsarticle/46443/commbank-joins-openai-goldrush?utm_medium=rssfinextra&amp;utm_source=finextrafeed"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inextra.com/newsarticle/46441/santander-partners-openai-to-become-ai-native-bank?utm_medium=rssfinextra&amp;utm_source=finextrafeed"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inextra.com/newsarticle/46428/bbva-wins-plaudits-from-openai-for-chatgpt5-tests?utm_medium=rssfinextra&amp;utm_source=finextrafeed"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inextra.com/newsarticle/46424/google-finance-gets-ai-reboot?utm_medium=rssfinextra&amp;utm_source=finextrafeed"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t.com/content/ad12a0ec-9d6d-4ee7-83b7-643415f1a373"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t.com/content/fdc29c4d-d82b-4274-9c96-f4cda0b52ef9"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inextra.com/pressarticle/106653/etoro-touts-ai-for-social-investing?utm_medium=rssfinextra&amp;utm_source=finextrafeed"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ckinsey.com/capabilities/risk-and-resilience/our-insights/how-agentic-ai-can-change-the-way-banks-fight-financial-crime"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inextra.com/newsarticle/46410/maybank-signs-rm1bn-digital-transformation-deal-with-microsoft?utm_medium=rssfinextra&amp;utm_source=finextrafeed"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inextra.com/newsarticle/46405/wells-fargo-enlists-google-cloud-for-agentic-ai-play?utm_medium=rssfinextra&amp;utm_source=finextrafeed"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inextra.com/videoarticle/3329/the-3-most-compelling-ai-use-cases-in-wealth-management?utm_medium=rssfinextra&amp;utm_source=finextrafeed"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inextra.com/newsarticle/46397/natwest-and-google-to-boost-uk-startups-with-ai-tools-and-training?utm_medium=rssfinextra&amp;utm_source=finextrafeed"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martdev.com/ai-use-cases-in-audit/"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x.thomsonreuters.com/blog/beyond-the-hype-real-world-applications-of-genai-in-auditing/"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brain.ai/generative-ai-for-internal-audit/"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wired.com/story/openais-gpt-5-is-here/"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penai.com/index/gpt-5-new-era-of-work"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penai.com/index/gpt-5-first-look"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echnologyreview.com/2025/08/05/1121092/openai-has-finally-released-open-weight-language-model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penai.com/index/introducing-gpt-os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blogs.nvidia.com/blog/nemotron-cosmos-reasoning-enterprise-physical-ai/"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orrester.com/blogs/introducing-aegis-the-guardrails-cisos-need-for-the-agentic-enterprise/"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orrester.com/blogs/early-adopters-share-ai-centric-service-desk-results/"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penai.com/index/gpt-5-coding-design"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penai.com/index/basis"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r>
              <a:rPr sz="3600" b="1"/>
              <a:t>Gen AI &amp; LLM Trends - 2025</a:t>
            </a:r>
          </a:p>
        </p:txBody>
      </p:sp>
      <p:sp>
        <p:nvSpPr>
          <p:cNvPr id="3" name="Subtitle 2"/>
          <p:cNvSpPr>
            <a:spLocks noGrp="1"/>
          </p:cNvSpPr>
          <p:nvPr>
            <p:ph type="subTitle" idx="1"/>
          </p:nvPr>
        </p:nvSpPr>
        <p:spPr/>
        <p:txBody>
          <a:bodyPr/>
          <a:lstStyle/>
          <a:p>
            <a:r>
              <a:t>Draft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wrap="square"/>
          <a:lstStyle/>
          <a:p>
            <a:r>
              <a:t>Total articles: 26</a:t>
            </a:r>
          </a:p>
          <a:p>
            <a:pPr lvl="1"/>
            <a:r>
              <a:t>Uncategorized: 0</a:t>
            </a:r>
          </a:p>
          <a:p>
            <a:pPr lvl="1"/>
            <a:r>
              <a:t>AI &amp; GenAI Trends: 1</a:t>
            </a:r>
          </a:p>
          <a:p>
            <a:pPr lvl="1"/>
            <a:r>
              <a:t>AI in Financial Institutions: 15</a:t>
            </a:r>
          </a:p>
          <a:p>
            <a:pPr lvl="1"/>
            <a:r>
              <a:t>Leading AI Innovators: 5</a:t>
            </a:r>
          </a:p>
          <a:p>
            <a:pPr lvl="1"/>
            <a:r>
              <a:t>Agentic AI: 2</a:t>
            </a:r>
          </a:p>
          <a:p>
            <a:pPr lvl="1"/>
            <a:r>
              <a:t>Broader AI Topics: 2</a:t>
            </a:r>
          </a:p>
          <a:p>
            <a:pPr lvl="1"/>
            <a:r>
              <a:t>Tech Corner: 0</a:t>
            </a:r>
          </a:p>
          <a:p>
            <a:pPr lvl="1"/>
            <a:r>
              <a:t>AI Beyond Finance: 1</a:t>
            </a:r>
          </a:p>
        </p:txBody>
      </p:sp>
      <p:sp>
        <p:nvSpPr>
          <p:cNvPr id="4" name="TextBox 3"/>
          <p:cNvSpPr txBox="1"/>
          <p:nvPr/>
        </p:nvSpPr>
        <p:spPr>
          <a:xfrm>
            <a:off x="640080" y="365760"/>
            <a:ext cx="7772400" cy="1097280"/>
          </a:xfrm>
          <a:prstGeom prst="rect">
            <a:avLst/>
          </a:prstGeom>
          <a:noFill/>
        </p:spPr>
        <p:txBody>
          <a:bodyPr wrap="square">
            <a:spAutoFit/>
          </a:bodyPr>
          <a:lstStyle/>
          <a:p>
            <a:r>
              <a:rPr sz="3600" b="1"/>
              <a:t>Executive Summary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800" b="1"/>
              <a:t>Companies Are Pouring Billions Into A.I. It Has Yet to Pay Off.</a:t>
            </a:r>
          </a:p>
        </p:txBody>
      </p:sp>
      <p:sp>
        <p:nvSpPr>
          <p:cNvPr id="3" name="TextBox 2"/>
          <p:cNvSpPr txBox="1"/>
          <p:nvPr/>
        </p:nvSpPr>
        <p:spPr>
          <a:xfrm>
            <a:off x="640080" y="1828799"/>
            <a:ext cx="7315200" cy="731520"/>
          </a:xfrm>
          <a:prstGeom prst="rect">
            <a:avLst/>
          </a:prstGeom>
          <a:noFill/>
        </p:spPr>
        <p:txBody>
          <a:bodyPr wrap="square">
            <a:spAutoFit/>
          </a:bodyPr>
          <a:lstStyle/>
          <a:p>
            <a:r>
              <a:rPr sz="1600"/>
              <a:t>Companies Are Pouring Billions Into A.I. It Has Yet to Pay Off.</a:t>
            </a:r>
          </a:p>
        </p:txBody>
      </p:sp>
      <p:sp>
        <p:nvSpPr>
          <p:cNvPr id="4" name="TextBox 3"/>
          <p:cNvSpPr txBox="1"/>
          <p:nvPr/>
        </p:nvSpPr>
        <p:spPr>
          <a:xfrm>
            <a:off x="640080" y="2651760"/>
            <a:ext cx="7315200" cy="3840480"/>
          </a:xfrm>
          <a:prstGeom prst="rect">
            <a:avLst/>
          </a:prstGeom>
          <a:noFill/>
        </p:spPr>
        <p:txBody>
          <a:bodyPr wrap="square">
            <a:spAutoFit/>
          </a:bodyPr>
          <a:lstStyle/>
          <a:p>
            <a:pPr/>
            <a:r>
              <a:t>Corporate spending on artificial intelligence is surging as executives bank on major efficiency gains. So far, they report little effect to the bottom line.</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nytimes.com/2025/08/13/business/ai-business-payoff-lags.html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600" b="1"/>
              <a:t>CommBank joins OpenAI goldrush</a:t>
            </a:r>
          </a:p>
        </p:txBody>
      </p:sp>
      <p:sp>
        <p:nvSpPr>
          <p:cNvPr id="3" name="TextBox 2"/>
          <p:cNvSpPr txBox="1"/>
          <p:nvPr/>
        </p:nvSpPr>
        <p:spPr>
          <a:xfrm>
            <a:off x="640080" y="1828799"/>
            <a:ext cx="7315200" cy="731520"/>
          </a:xfrm>
          <a:prstGeom prst="rect">
            <a:avLst/>
          </a:prstGeom>
          <a:noFill/>
        </p:spPr>
        <p:txBody>
          <a:bodyPr wrap="square">
            <a:spAutoFit/>
          </a:bodyPr>
          <a:lstStyle/>
          <a:p>
            <a:r>
              <a:rPr sz="1600"/>
              <a:t>CommBank joins OpenAI goldrush</a:t>
            </a:r>
          </a:p>
        </p:txBody>
      </p:sp>
      <p:sp>
        <p:nvSpPr>
          <p:cNvPr id="4" name="TextBox 3"/>
          <p:cNvSpPr txBox="1"/>
          <p:nvPr/>
        </p:nvSpPr>
        <p:spPr>
          <a:xfrm>
            <a:off x="640080" y="2651760"/>
            <a:ext cx="7315200" cy="3840480"/>
          </a:xfrm>
          <a:prstGeom prst="rect">
            <a:avLst/>
          </a:prstGeom>
          <a:noFill/>
        </p:spPr>
        <p:txBody>
          <a:bodyPr wrap="square">
            <a:spAutoFit/>
          </a:bodyPr>
          <a:lstStyle/>
          <a:p>
            <a:pPr/>
            <a:r>
              <a:t>Australia's CommBank has entered a multi-year agreement with OpenAI to provide employees access to ChatGPT Enterprise, aiming to enhance scam and fraud detection and deliver personalized services. The bank is also investing in training programs to boost AI capabilities and ensure responsible AI use among its workforce. Previously, CommBank partnered with Amazon Web Services to establish an 'AI Factory' to accelerate generative AI adoption across its product portfolio. This move aligns CommBank with other major institutions like BBVA, Santander, and Morgan Stanley in supporting OpenAI's latest advancements.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finextra.com/newsarticle/46443/commbank-joins-openai-goldrush?utm_medium=rssfinextra&amp;utm_source=finextrafeed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200" b="1"/>
              <a:t>Santander partners OpenAI to become 'AI-native' bank</a:t>
            </a:r>
          </a:p>
        </p:txBody>
      </p:sp>
      <p:sp>
        <p:nvSpPr>
          <p:cNvPr id="3" name="TextBox 2"/>
          <p:cNvSpPr txBox="1"/>
          <p:nvPr/>
        </p:nvSpPr>
        <p:spPr>
          <a:xfrm>
            <a:off x="640080" y="1828799"/>
            <a:ext cx="7315200" cy="731520"/>
          </a:xfrm>
          <a:prstGeom prst="rect">
            <a:avLst/>
          </a:prstGeom>
          <a:noFill/>
        </p:spPr>
        <p:txBody>
          <a:bodyPr wrap="square">
            <a:spAutoFit/>
          </a:bodyPr>
          <a:lstStyle/>
          <a:p>
            <a:r>
              <a:rPr sz="1600"/>
              <a:t>Santander partners OpenAI to become 'AI-native' bank</a:t>
            </a:r>
          </a:p>
        </p:txBody>
      </p:sp>
      <p:sp>
        <p:nvSpPr>
          <p:cNvPr id="4" name="TextBox 3"/>
          <p:cNvSpPr txBox="1"/>
          <p:nvPr/>
        </p:nvSpPr>
        <p:spPr>
          <a:xfrm>
            <a:off x="640080" y="2651760"/>
            <a:ext cx="7315200" cy="3840480"/>
          </a:xfrm>
          <a:prstGeom prst="rect">
            <a:avLst/>
          </a:prstGeom>
          <a:noFill/>
        </p:spPr>
        <p:txBody>
          <a:bodyPr wrap="square">
            <a:spAutoFit/>
          </a:bodyPr>
          <a:lstStyle/>
          <a:p>
            <a:pPr/>
            <a:r>
              <a:t>Santander has partnered with OpenAI to deploy ChatGPT Enterprise to nearly 15,000 employees as part of its transformation into an "AI-native" bank, with plans to expand to 30,000 users by year-end. The bank is embedding AI across various functions, including product management and customer service, and has already achieved over €200 million in savings from AI initiatives in 2024. AI copilots now assist in more than 40% of contact center interactions, and Speech Analytics in Spain processes 10 million calls annually, enhancing customer service and freeing up over 100,000 hours for higher-value tasks. Santander is also implementing a mandatory AI training plan for all employees to democratize AI usage and ensure operational rigor and human empowerment.</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finextra.com/newsarticle/46441/santander-partners-openai-to-become-ai-native-bank?utm_medium=rssfinextra&amp;utm_source=finextrafeed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200" b="1"/>
              <a:t>BBVA wins plaudits from OpenAI for ChatGPT5 tests</a:t>
            </a:r>
          </a:p>
        </p:txBody>
      </p:sp>
      <p:sp>
        <p:nvSpPr>
          <p:cNvPr id="3" name="TextBox 2"/>
          <p:cNvSpPr txBox="1"/>
          <p:nvPr/>
        </p:nvSpPr>
        <p:spPr>
          <a:xfrm>
            <a:off x="640080" y="1828799"/>
            <a:ext cx="7315200" cy="731520"/>
          </a:xfrm>
          <a:prstGeom prst="rect">
            <a:avLst/>
          </a:prstGeom>
          <a:noFill/>
        </p:spPr>
        <p:txBody>
          <a:bodyPr wrap="square">
            <a:spAutoFit/>
          </a:bodyPr>
          <a:lstStyle/>
          <a:p>
            <a:r>
              <a:rPr sz="1600"/>
              <a:t>BBVA wins plaudits from OpenAI for ChatGPT5 tests</a:t>
            </a:r>
          </a:p>
        </p:txBody>
      </p:sp>
      <p:sp>
        <p:nvSpPr>
          <p:cNvPr id="4" name="TextBox 3"/>
          <p:cNvSpPr txBox="1"/>
          <p:nvPr/>
        </p:nvSpPr>
        <p:spPr>
          <a:xfrm>
            <a:off x="640080" y="2651760"/>
            <a:ext cx="7315200" cy="3840480"/>
          </a:xfrm>
          <a:prstGeom prst="rect">
            <a:avLst/>
          </a:prstGeom>
          <a:noFill/>
        </p:spPr>
        <p:txBody>
          <a:bodyPr wrap="square">
            <a:spAutoFit/>
          </a:bodyPr>
          <a:lstStyle/>
          <a:p>
            <a:pPr/>
            <a:r>
              <a:t>OpenAI has launched its new language model, ChatGPT5, with BBVA as one of the first financial institutions to adopt it, significantly reducing the time for technical tasks. Since May 2024, BBVA has deployed 11,000 licenses, with over 80% of users utilizing them daily, saving nearly three hours per week on routine tasks. The model enhances accuracy, speed, reasoning, and problem-solving, allowing BBVA to complete strategic financial analysis in hours instead of weeks. BBVA's global head of AI Adoption, Elena Alfaro, noted the model's potential in code writing, technical tasks, and its proficiency in handling the Spanish language.</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finextra.com/newsarticle/46428/bbva-wins-plaudits-from-openai-for-chatgpt5-tests?utm_medium=rssfinextra&amp;utm_source=finextrafeed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600" b="1"/>
              <a:t>Google Finance gets AI reboot</a:t>
            </a:r>
          </a:p>
        </p:txBody>
      </p:sp>
      <p:sp>
        <p:nvSpPr>
          <p:cNvPr id="3" name="TextBox 2"/>
          <p:cNvSpPr txBox="1"/>
          <p:nvPr/>
        </p:nvSpPr>
        <p:spPr>
          <a:xfrm>
            <a:off x="640080" y="1828799"/>
            <a:ext cx="7315200" cy="731520"/>
          </a:xfrm>
          <a:prstGeom prst="rect">
            <a:avLst/>
          </a:prstGeom>
          <a:noFill/>
        </p:spPr>
        <p:txBody>
          <a:bodyPr wrap="square">
            <a:spAutoFit/>
          </a:bodyPr>
          <a:lstStyle/>
          <a:p>
            <a:r>
              <a:rPr sz="1600"/>
              <a:t>Google Finance gets AI reboot</a:t>
            </a:r>
          </a:p>
        </p:txBody>
      </p:sp>
      <p:sp>
        <p:nvSpPr>
          <p:cNvPr id="4" name="TextBox 3"/>
          <p:cNvSpPr txBox="1"/>
          <p:nvPr/>
        </p:nvSpPr>
        <p:spPr>
          <a:xfrm>
            <a:off x="640080" y="2651760"/>
            <a:ext cx="7315200" cy="3840480"/>
          </a:xfrm>
          <a:prstGeom prst="rect">
            <a:avLst/>
          </a:prstGeom>
          <a:noFill/>
        </p:spPr>
        <p:txBody>
          <a:bodyPr wrap="square">
            <a:spAutoFit/>
          </a:bodyPr>
          <a:lstStyle/>
          <a:p>
            <a:pPr/>
            <a:r>
              <a:t>Google is enhancing its Google Finance service with artificial intelligence, allowing users to toggle between the old and new versions. The updated version enables users to ask detailed financial questions and receive comprehensive AI-generated responses, simplifying complex research. It also introduces new charting tools for visualizing financial data with technical indicators and candlestick charts, and a live news feed for real-time market updates.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finextra.com/newsarticle/46424/google-finance-gets-ai-reboot?utm_medium=rssfinextra&amp;utm_source=finextrafeed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200" b="1"/>
              <a:t>The fund manager of the future might just be a machine</a:t>
            </a:r>
          </a:p>
        </p:txBody>
      </p:sp>
      <p:sp>
        <p:nvSpPr>
          <p:cNvPr id="3" name="TextBox 2"/>
          <p:cNvSpPr txBox="1"/>
          <p:nvPr/>
        </p:nvSpPr>
        <p:spPr>
          <a:xfrm>
            <a:off x="640080" y="1828799"/>
            <a:ext cx="7315200" cy="731520"/>
          </a:xfrm>
          <a:prstGeom prst="rect">
            <a:avLst/>
          </a:prstGeom>
          <a:noFill/>
        </p:spPr>
        <p:txBody>
          <a:bodyPr wrap="square">
            <a:spAutoFit/>
          </a:bodyPr>
          <a:lstStyle/>
          <a:p>
            <a:r>
              <a:rPr sz="1600"/>
              <a:t>The fund manager of the future might just be a machine</a:t>
            </a:r>
          </a:p>
        </p:txBody>
      </p:sp>
      <p:sp>
        <p:nvSpPr>
          <p:cNvPr id="4" name="TextBox 3"/>
          <p:cNvSpPr txBox="1"/>
          <p:nvPr/>
        </p:nvSpPr>
        <p:spPr>
          <a:xfrm>
            <a:off x="640080" y="2651760"/>
            <a:ext cx="7315200" cy="3840480"/>
          </a:xfrm>
          <a:prstGeom prst="rect">
            <a:avLst/>
          </a:prstGeom>
          <a:noFill/>
        </p:spPr>
        <p:txBody>
          <a:bodyPr wrap="square">
            <a:spAutoFit/>
          </a:bodyPr>
          <a:lstStyle/>
          <a:p>
            <a:pPr/>
            <a:r>
              <a:t>The article discusses the potential for machines to replace fund managers in the future, highlighting the increasing role of technology in financial management. It emphasizes the benefits of digital access to quality journalism, offering various subscription plans for individuals and organizations to stay informed with expert analysis and insights. The Financial Times provides comprehensive digital access, including exclusive features and content, with options to pay annually for savings.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ft.com/content/ad12a0ec-9d6d-4ee7-83b7-643415f1a373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600" b="1"/>
              <a:t>AI is coming for (some) finance jobs</a:t>
            </a:r>
          </a:p>
        </p:txBody>
      </p:sp>
      <p:sp>
        <p:nvSpPr>
          <p:cNvPr id="3" name="TextBox 2"/>
          <p:cNvSpPr txBox="1"/>
          <p:nvPr/>
        </p:nvSpPr>
        <p:spPr>
          <a:xfrm>
            <a:off x="640080" y="1828799"/>
            <a:ext cx="7315200" cy="731520"/>
          </a:xfrm>
          <a:prstGeom prst="rect">
            <a:avLst/>
          </a:prstGeom>
          <a:noFill/>
        </p:spPr>
        <p:txBody>
          <a:bodyPr wrap="square">
            <a:spAutoFit/>
          </a:bodyPr>
          <a:lstStyle/>
          <a:p>
            <a:r>
              <a:rPr sz="1600"/>
              <a:t>AI is coming for (some) finance jobs</a:t>
            </a:r>
          </a:p>
        </p:txBody>
      </p:sp>
      <p:sp>
        <p:nvSpPr>
          <p:cNvPr id="4" name="TextBox 3"/>
          <p:cNvSpPr txBox="1"/>
          <p:nvPr/>
        </p:nvSpPr>
        <p:spPr>
          <a:xfrm>
            <a:off x="640080" y="2651760"/>
            <a:ext cx="7315200" cy="3840480"/>
          </a:xfrm>
          <a:prstGeom prst="rect">
            <a:avLst/>
          </a:prstGeom>
          <a:noFill/>
        </p:spPr>
        <p:txBody>
          <a:bodyPr wrap="square">
            <a:spAutoFit/>
          </a:bodyPr>
          <a:lstStyle/>
          <a:p>
            <a:pPr/>
            <a:r>
              <a:t>The article discusses the impact of artificial intelligence on finance jobs, highlighting that AI is expected to automate certain roles within the industry. It suggests that while some positions may be eliminated, AI will also create new opportunities and demand for skills in data analysis and AI management. The Financial Times offers various subscription plans for accessing their journalism, with options for individual and organizational access, including discounts for annual payments and trials.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ft.com/content/fdc29c4d-d82b-4274-9c96-f4cda0b52ef9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600" b="1"/>
              <a:t>EToro touts AI for social investing</a:t>
            </a:r>
          </a:p>
        </p:txBody>
      </p:sp>
      <p:sp>
        <p:nvSpPr>
          <p:cNvPr id="3" name="TextBox 2"/>
          <p:cNvSpPr txBox="1"/>
          <p:nvPr/>
        </p:nvSpPr>
        <p:spPr>
          <a:xfrm>
            <a:off x="640080" y="1828799"/>
            <a:ext cx="7315200" cy="731520"/>
          </a:xfrm>
          <a:prstGeom prst="rect">
            <a:avLst/>
          </a:prstGeom>
          <a:noFill/>
        </p:spPr>
        <p:txBody>
          <a:bodyPr wrap="square">
            <a:spAutoFit/>
          </a:bodyPr>
          <a:lstStyle/>
          <a:p>
            <a:r>
              <a:rPr sz="1600"/>
              <a:t>EToro touts AI for social investing</a:t>
            </a:r>
          </a:p>
        </p:txBody>
      </p:sp>
      <p:sp>
        <p:nvSpPr>
          <p:cNvPr id="4" name="TextBox 3"/>
          <p:cNvSpPr txBox="1"/>
          <p:nvPr/>
        </p:nvSpPr>
        <p:spPr>
          <a:xfrm>
            <a:off x="640080" y="2651760"/>
            <a:ext cx="7315200" cy="3840480"/>
          </a:xfrm>
          <a:prstGeom prst="rect">
            <a:avLst/>
          </a:prstGeom>
          <a:noFill/>
        </p:spPr>
        <p:txBody>
          <a:bodyPr wrap="square">
            <a:spAutoFit/>
          </a:bodyPr>
          <a:lstStyle/>
          <a:p>
            <a:pPr/>
            <a:r>
              <a:t>eToro Group Ltd. announced the launch of AI tools to enhance social investing, creating a community-built marketplace using their new public API. These tools, initially available to eToro's Popular Investors, include capabilities for developing trading algorithms, automating trade execution, and personalizing portfolio optimization. eToro also introduced Tori, an AI companion to guide users on the platform, and launched seven Alpha Portfolios offering AI-powered strategies. The company acquired BullAware to integrate its features into the eToro platform, further demonstrating their commitment to AI-driven innovation.</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finextra.com/pressarticle/106653/etoro-touts-ai-for-social-investing?utm_medium=rssfinextra&amp;utm_source=finextrafeed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800" b="1"/>
              <a:t>How agentic AI can change the way banks fight financial crime</a:t>
            </a:r>
          </a:p>
        </p:txBody>
      </p:sp>
      <p:sp>
        <p:nvSpPr>
          <p:cNvPr id="3" name="TextBox 2"/>
          <p:cNvSpPr txBox="1"/>
          <p:nvPr/>
        </p:nvSpPr>
        <p:spPr>
          <a:xfrm>
            <a:off x="640080" y="1828799"/>
            <a:ext cx="7315200" cy="731520"/>
          </a:xfrm>
          <a:prstGeom prst="rect">
            <a:avLst/>
          </a:prstGeom>
          <a:noFill/>
        </p:spPr>
        <p:txBody>
          <a:bodyPr wrap="square">
            <a:spAutoFit/>
          </a:bodyPr>
          <a:lstStyle/>
          <a:p>
            <a:r>
              <a:rPr sz="1600"/>
              <a:t>How agentic AI can change the way banks fight financial crime</a:t>
            </a:r>
          </a:p>
        </p:txBody>
      </p:sp>
      <p:sp>
        <p:nvSpPr>
          <p:cNvPr id="4" name="TextBox 3"/>
          <p:cNvSpPr txBox="1"/>
          <p:nvPr/>
        </p:nvSpPr>
        <p:spPr>
          <a:xfrm>
            <a:off x="640080" y="2651760"/>
            <a:ext cx="7315200" cy="3840480"/>
          </a:xfrm>
          <a:prstGeom prst="rect">
            <a:avLst/>
          </a:prstGeom>
          <a:noFill/>
        </p:spPr>
        <p:txBody>
          <a:bodyPr wrap="square">
            <a:spAutoFit/>
          </a:bodyPr>
          <a:lstStyle/>
          <a:p>
            <a:pPr/>
            <a:r>
              <a:t>Despite banks increasing their spending on know-your-customer (KYC) and anti-money-laundering (AML) activities by up to 10% annually from 2015 to 2022, they only detect about 2% of global financial crime flows. Agentic AI, an advanced form of AI technology, offers a solution by automating and enhancing productivity throughout the client lifecycle. While analytical and generative AI improve compliance efficiency, agentic AI can significantly boost productivity by 200 to 2,000% by autonomously handling tasks with minimal human oversight. Successful implementation of AI in KYC/AML requires a comprehensive approach, including process reengineering, a modular technology structure, and a dedicated risk management framework.</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mckinsey.com/capabilities/risk-and-resilience/our-insights/how-agentic-ai-can-change-the-way-banks-fight-financial-crime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800" b="1"/>
              <a:t>Maybank signs RM1bn digital transformation deal with Microsoft</a:t>
            </a:r>
          </a:p>
        </p:txBody>
      </p:sp>
      <p:sp>
        <p:nvSpPr>
          <p:cNvPr id="3" name="TextBox 2"/>
          <p:cNvSpPr txBox="1"/>
          <p:nvPr/>
        </p:nvSpPr>
        <p:spPr>
          <a:xfrm>
            <a:off x="640080" y="1828799"/>
            <a:ext cx="7315200" cy="731520"/>
          </a:xfrm>
          <a:prstGeom prst="rect">
            <a:avLst/>
          </a:prstGeom>
          <a:noFill/>
        </p:spPr>
        <p:txBody>
          <a:bodyPr wrap="square">
            <a:spAutoFit/>
          </a:bodyPr>
          <a:lstStyle/>
          <a:p>
            <a:r>
              <a:rPr sz="1600"/>
              <a:t>Maybank signs RM1bn digital transformation deal with Microsoft</a:t>
            </a:r>
          </a:p>
        </p:txBody>
      </p:sp>
      <p:sp>
        <p:nvSpPr>
          <p:cNvPr id="4" name="TextBox 3"/>
          <p:cNvSpPr txBox="1"/>
          <p:nvPr/>
        </p:nvSpPr>
        <p:spPr>
          <a:xfrm>
            <a:off x="640080" y="2651760"/>
            <a:ext cx="7315200" cy="3840480"/>
          </a:xfrm>
          <a:prstGeom prst="rect">
            <a:avLst/>
          </a:prstGeom>
          <a:noFill/>
        </p:spPr>
        <p:txBody>
          <a:bodyPr wrap="square">
            <a:spAutoFit/>
          </a:bodyPr>
          <a:lstStyle/>
          <a:p>
            <a:pPr/>
            <a:r>
              <a:t>Maybank, Malaysia's largest financial institution, has partnered with Microsoft in a deal potentially worth RM1bn ($226m) over five years to drive its digital transformation using AI and cloud technologies. The transformation will involve migrating to Microsoft 365 and utilizing Microsoft Azure to support Maybank's strategic systems and workloads, aiming to enhance innovation, resilience, and cost-efficiency. Maybank's president and group CEO, Dato’ Sri Khairussaleh Ramli, emphasized that the partnership is a significant step in their digital journey, focusing on better serving customers and creating long-term value.</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finextra.com/newsarticle/46410/maybank-signs-rm1bn-digital-transformation-deal-with-microsoft?utm_medium=rssfinextra&amp;utm_source=finextrafeed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200" b="1"/>
              <a:t>Wells Fargo enlists Google Cloud for agentic AI play</a:t>
            </a:r>
          </a:p>
        </p:txBody>
      </p:sp>
      <p:sp>
        <p:nvSpPr>
          <p:cNvPr id="3" name="TextBox 2"/>
          <p:cNvSpPr txBox="1"/>
          <p:nvPr/>
        </p:nvSpPr>
        <p:spPr>
          <a:xfrm>
            <a:off x="640080" y="1828799"/>
            <a:ext cx="7315200" cy="731520"/>
          </a:xfrm>
          <a:prstGeom prst="rect">
            <a:avLst/>
          </a:prstGeom>
          <a:noFill/>
        </p:spPr>
        <p:txBody>
          <a:bodyPr wrap="square">
            <a:spAutoFit/>
          </a:bodyPr>
          <a:lstStyle/>
          <a:p>
            <a:r>
              <a:rPr sz="1600"/>
              <a:t>Wells Fargo enlists Google Cloud for agentic AI play</a:t>
            </a:r>
          </a:p>
        </p:txBody>
      </p:sp>
      <p:sp>
        <p:nvSpPr>
          <p:cNvPr id="4" name="TextBox 3"/>
          <p:cNvSpPr txBox="1"/>
          <p:nvPr/>
        </p:nvSpPr>
        <p:spPr>
          <a:xfrm>
            <a:off x="640080" y="2651760"/>
            <a:ext cx="7315200" cy="3840480"/>
          </a:xfrm>
          <a:prstGeom prst="rect">
            <a:avLst/>
          </a:prstGeom>
          <a:noFill/>
        </p:spPr>
        <p:txBody>
          <a:bodyPr wrap="square">
            <a:spAutoFit/>
          </a:bodyPr>
          <a:lstStyle/>
          <a:p>
            <a:pPr/>
            <a:r>
              <a:t>Wells Fargo is expanding its partnership with Google Cloud to implement agentic AI across its operations, enhancing the AI virtual assistant, Fargo, launched in 2022. This expansion will provide AI tools to employees, including branch and investment bankers, marketers, and customer relations teams, utilizing Google Agentspace for scalable agent management. The AI agents will assist in complex tasks like foreign exchange inquiries and automate routine tasks such as balance inquiries and debit card replacements, aiming to improve efficiency and client focus. Additionally, AI will streamline contract management by rapidly querying extensive vendor agreement documents for specific clauses and terms.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finextra.com/newsarticle/46405/wells-fargo-enlists-google-cloud-for-agentic-ai-play?utm_medium=rssfinextra&amp;utm_source=finextrafeed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200" b="1"/>
              <a:t>The 3 Most Compelling AI Use Cases in Wealth Management</a:t>
            </a:r>
          </a:p>
        </p:txBody>
      </p:sp>
      <p:sp>
        <p:nvSpPr>
          <p:cNvPr id="3" name="TextBox 2"/>
          <p:cNvSpPr txBox="1"/>
          <p:nvPr/>
        </p:nvSpPr>
        <p:spPr>
          <a:xfrm>
            <a:off x="640080" y="1828799"/>
            <a:ext cx="7315200" cy="731520"/>
          </a:xfrm>
          <a:prstGeom prst="rect">
            <a:avLst/>
          </a:prstGeom>
          <a:noFill/>
        </p:spPr>
        <p:txBody>
          <a:bodyPr wrap="square">
            <a:spAutoFit/>
          </a:bodyPr>
          <a:lstStyle/>
          <a:p>
            <a:r>
              <a:rPr sz="1600"/>
              <a:t>The 3 Most Compelling AI Use Cases in Wealth Management</a:t>
            </a:r>
          </a:p>
        </p:txBody>
      </p:sp>
      <p:sp>
        <p:nvSpPr>
          <p:cNvPr id="4" name="TextBox 3"/>
          <p:cNvSpPr txBox="1"/>
          <p:nvPr/>
        </p:nvSpPr>
        <p:spPr>
          <a:xfrm>
            <a:off x="640080" y="2651760"/>
            <a:ext cx="7315200" cy="3840480"/>
          </a:xfrm>
          <a:prstGeom prst="rect">
            <a:avLst/>
          </a:prstGeom>
          <a:noFill/>
        </p:spPr>
        <p:txBody>
          <a:bodyPr wrap="square">
            <a:spAutoFit/>
          </a:bodyPr>
          <a:lstStyle/>
          <a:p>
            <a:pPr/>
            <a:r>
              <a:t>Joe Bonanno, Global Head of Data Analytics &amp; Innovation at Citi Wealth, discussed the role of AI in wealth management during FinextraTV's Future of Wealth Series. He highlighted AI's utility in processing data inputs for large language models, optimizing tasks, and enhancing research capabilities within the industry.</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finextra.com/videoarticle/3329/the-3-most-compelling-ai-use-cases-in-wealth-management?utm_medium=rssfinextra&amp;utm_source=finextrafeed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800" b="1"/>
              <a:t>NatWest and Google to boost UK startups with AI tools and training</a:t>
            </a:r>
          </a:p>
        </p:txBody>
      </p:sp>
      <p:sp>
        <p:nvSpPr>
          <p:cNvPr id="3" name="TextBox 2"/>
          <p:cNvSpPr txBox="1"/>
          <p:nvPr/>
        </p:nvSpPr>
        <p:spPr>
          <a:xfrm>
            <a:off x="640080" y="1828799"/>
            <a:ext cx="7315200" cy="731520"/>
          </a:xfrm>
          <a:prstGeom prst="rect">
            <a:avLst/>
          </a:prstGeom>
          <a:noFill/>
        </p:spPr>
        <p:txBody>
          <a:bodyPr wrap="square">
            <a:spAutoFit/>
          </a:bodyPr>
          <a:lstStyle/>
          <a:p>
            <a:r>
              <a:rPr sz="1600"/>
              <a:t>NatWest and Google to boost UK startups with AI tools and training</a:t>
            </a:r>
          </a:p>
        </p:txBody>
      </p:sp>
      <p:sp>
        <p:nvSpPr>
          <p:cNvPr id="4" name="TextBox 3"/>
          <p:cNvSpPr txBox="1"/>
          <p:nvPr/>
        </p:nvSpPr>
        <p:spPr>
          <a:xfrm>
            <a:off x="640080" y="2651760"/>
            <a:ext cx="7315200" cy="3840480"/>
          </a:xfrm>
          <a:prstGeom prst="rect">
            <a:avLst/>
          </a:prstGeom>
          <a:noFill/>
        </p:spPr>
        <p:txBody>
          <a:bodyPr wrap="square">
            <a:spAutoFit/>
          </a:bodyPr>
          <a:lstStyle/>
          <a:p>
            <a:pPr/>
            <a:r>
              <a:t>NatWest is collaborating with Google Cloud to provide entrepreneurs in its UK business Accelerator with AI tools, cloud technology, and expert training. A survey of 1000 businesses across 10 sectors found that 'future fit' businesses, which are more inclined to use data analysis for decision-making, are nearly twice as likely to implement AI tools compared to the average business. Google Cloud will offer practical AI and digital marketing training through NatWest's Accelerator hubs and app, along with Google Cloud credits to help startups reduce costs and technical barriers. Additionally, Google will partner with NatWest on a £1 million Accelerator Pitch competition, where the winner will receive £70,000 to support their business growth.</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finextra.com/newsarticle/46397/natwest-and-google-to-boost-uk-startups-with-ai-tools-and-training?utm_medium=rssfinextra&amp;utm_source=finextrafeed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200" b="1"/>
              <a:t>AI in Audit: Top Use Cases You Need To Know - SmartDev</a:t>
            </a:r>
          </a:p>
        </p:txBody>
      </p:sp>
      <p:sp>
        <p:nvSpPr>
          <p:cNvPr id="3" name="TextBox 2"/>
          <p:cNvSpPr txBox="1"/>
          <p:nvPr/>
        </p:nvSpPr>
        <p:spPr>
          <a:xfrm>
            <a:off x="640080" y="1828799"/>
            <a:ext cx="7315200" cy="731520"/>
          </a:xfrm>
          <a:prstGeom prst="rect">
            <a:avLst/>
          </a:prstGeom>
          <a:noFill/>
        </p:spPr>
        <p:txBody>
          <a:bodyPr wrap="square">
            <a:spAutoFit/>
          </a:bodyPr>
          <a:lstStyle/>
          <a:p>
            <a:r>
              <a:rPr sz="1600"/>
              <a:t>AI in Audit: Top Use Cases You Need To Know - SmartDev</a:t>
            </a:r>
          </a:p>
        </p:txBody>
      </p:sp>
      <p:sp>
        <p:nvSpPr>
          <p:cNvPr id="4" name="TextBox 3"/>
          <p:cNvSpPr txBox="1"/>
          <p:nvPr/>
        </p:nvSpPr>
        <p:spPr>
          <a:xfrm>
            <a:off x="640080" y="2651760"/>
            <a:ext cx="7315200" cy="3840480"/>
          </a:xfrm>
          <a:prstGeom prst="rect">
            <a:avLst/>
          </a:prstGeom>
          <a:noFill/>
        </p:spPr>
        <p:txBody>
          <a:bodyPr wrap="square">
            <a:spAutoFit/>
          </a:bodyPr>
          <a:lstStyle/>
          <a:p>
            <a:pPr/>
            <a:r>
              <a:t>Artificial Intelligence (AI) is transforming the auditing landscape by automating data analysis, enhancing accuracy, and predicting risk areas, which allows auditors to identify irregularities and reduce compliance risks with increased precision and speed. AI adoption in auditing is accelerating, with nearly 70% of audit executives expecting increased use of AI and automation in the next three years, driven by the need for enhanced accuracy and efficiency. The global AI audit market is projected to grow to approximately $3 billion by 2028, with a CAGR of 22.5%, as AI continues to address key pain points such as data overload and process inefficiencies. AI-driven tools have led to a 50% reduction in manual processes and data processing times, allowing auditors to focus on higher-value tasks and strategic risk management.</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smartdev.com/ai-use-cases-in-audit/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800" b="1"/>
              <a:t>Beyond the hype: Real-world applications of GenAI in auditing</a:t>
            </a:r>
          </a:p>
        </p:txBody>
      </p:sp>
      <p:sp>
        <p:nvSpPr>
          <p:cNvPr id="3" name="TextBox 2"/>
          <p:cNvSpPr txBox="1"/>
          <p:nvPr/>
        </p:nvSpPr>
        <p:spPr>
          <a:xfrm>
            <a:off x="640080" y="1828799"/>
            <a:ext cx="7315200" cy="731520"/>
          </a:xfrm>
          <a:prstGeom prst="rect">
            <a:avLst/>
          </a:prstGeom>
          <a:noFill/>
        </p:spPr>
        <p:txBody>
          <a:bodyPr wrap="square">
            <a:spAutoFit/>
          </a:bodyPr>
          <a:lstStyle/>
          <a:p>
            <a:r>
              <a:rPr sz="1600"/>
              <a:t>Beyond the hype: Real-world applications of GenAI in auditing</a:t>
            </a:r>
          </a:p>
        </p:txBody>
      </p:sp>
      <p:sp>
        <p:nvSpPr>
          <p:cNvPr id="4" name="TextBox 3"/>
          <p:cNvSpPr txBox="1"/>
          <p:nvPr/>
        </p:nvSpPr>
        <p:spPr>
          <a:xfrm>
            <a:off x="640080" y="2651760"/>
            <a:ext cx="7315200" cy="3840480"/>
          </a:xfrm>
          <a:prstGeom prst="rect">
            <a:avLst/>
          </a:prstGeom>
          <a:noFill/>
        </p:spPr>
        <p:txBody>
          <a:bodyPr wrap="square">
            <a:spAutoFit/>
          </a:bodyPr>
          <a:lstStyle/>
          <a:p>
            <a:pPr/>
            <a:r>
              <a:t>Generative AI (GenAI) is transforming the auditing industry by increasing efficiency, accuracy, and strategic insight, with its adoption rising from 8% to 21% of firms in the past year. GenAI automates tasks such as document review, enhances risk assessment, and aids in regulatory compliance, with tools like Thomson Reuters Audit Intelligence Analyze and Guided Assurance leading the way. The number of firms with no plans to use AI has decreased from 49% to 25%, indicating growing acceptance of AI technologies. GenAI also provides data-driven insights and can be integrated incrementally into existing workflows to minimize disruption.</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tax.thomsonreuters.com/blog/beyond-the-hype-real-world-applications-of-genai-in-auditing/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800" b="1"/>
              <a:t>Generative AI in internal audit: Scope, integration, use cases ...</a:t>
            </a:r>
          </a:p>
        </p:txBody>
      </p:sp>
      <p:sp>
        <p:nvSpPr>
          <p:cNvPr id="3" name="TextBox 2"/>
          <p:cNvSpPr txBox="1"/>
          <p:nvPr/>
        </p:nvSpPr>
        <p:spPr>
          <a:xfrm>
            <a:off x="640080" y="1828799"/>
            <a:ext cx="7315200" cy="731520"/>
          </a:xfrm>
          <a:prstGeom prst="rect">
            <a:avLst/>
          </a:prstGeom>
          <a:noFill/>
        </p:spPr>
        <p:txBody>
          <a:bodyPr wrap="square">
            <a:spAutoFit/>
          </a:bodyPr>
          <a:lstStyle/>
          <a:p>
            <a:r>
              <a:rPr sz="1600"/>
              <a:t>Generative AI in internal audit: Scope, integration, use cases ...</a:t>
            </a:r>
          </a:p>
        </p:txBody>
      </p:sp>
      <p:sp>
        <p:nvSpPr>
          <p:cNvPr id="4" name="TextBox 3"/>
          <p:cNvSpPr txBox="1"/>
          <p:nvPr/>
        </p:nvSpPr>
        <p:spPr>
          <a:xfrm>
            <a:off x="640080" y="2651760"/>
            <a:ext cx="7315200" cy="3840480"/>
          </a:xfrm>
          <a:prstGeom prst="rect">
            <a:avLst/>
          </a:prstGeom>
          <a:noFill/>
        </p:spPr>
        <p:txBody>
          <a:bodyPr wrap="square">
            <a:spAutoFit/>
          </a:bodyPr>
          <a:lstStyle/>
          <a:p>
            <a:pPr/>
            <a:r>
              <a:t>Generative AI is revolutionizing internal audits by automating data analysis, risk assessment, and compliance monitoring, with 41% of chief audit executives already using or planning to implement this technology. A Gartner survey shows 12% of audit departments have integrated GenAI models like OpenAI’s GPT and Google Gemini, with 29% planning implementation within a year. By 2027, 99% of businesses are expected to use AI in financial reporting, with 97% planning to deploy generative AI, highlighting its transformative potential. The GenAI audit market, valued at USD 73.9 million in 2023, is projected to grow to over USD 2,100 million by 2033, driven by the need for efficient audits across sectors.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zbrain.ai/generative-ai-for-internal-audit/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800" b="1"/>
              <a:t>OpenAI Finally Launched GPT-5. Here's Everything You Need to Know</a:t>
            </a:r>
          </a:p>
        </p:txBody>
      </p:sp>
      <p:sp>
        <p:nvSpPr>
          <p:cNvPr id="3" name="TextBox 2"/>
          <p:cNvSpPr txBox="1"/>
          <p:nvPr/>
        </p:nvSpPr>
        <p:spPr>
          <a:xfrm>
            <a:off x="640080" y="1828799"/>
            <a:ext cx="7315200" cy="731520"/>
          </a:xfrm>
          <a:prstGeom prst="rect">
            <a:avLst/>
          </a:prstGeom>
          <a:noFill/>
        </p:spPr>
        <p:txBody>
          <a:bodyPr wrap="square">
            <a:spAutoFit/>
          </a:bodyPr>
          <a:lstStyle/>
          <a:p>
            <a:r>
              <a:rPr sz="1600"/>
              <a:t>OpenAI Finally Launched GPT-5. Here's Everything You Need to Know</a:t>
            </a:r>
          </a:p>
        </p:txBody>
      </p:sp>
      <p:sp>
        <p:nvSpPr>
          <p:cNvPr id="4" name="TextBox 3"/>
          <p:cNvSpPr txBox="1"/>
          <p:nvPr/>
        </p:nvSpPr>
        <p:spPr>
          <a:xfrm>
            <a:off x="640080" y="2651760"/>
            <a:ext cx="7315200" cy="3840480"/>
          </a:xfrm>
          <a:prstGeom prst="rect">
            <a:avLst/>
          </a:prstGeom>
          <a:noFill/>
        </p:spPr>
        <p:txBody>
          <a:bodyPr wrap="square">
            <a:spAutoFit/>
          </a:bodyPr>
          <a:lstStyle/>
          <a:p>
            <a:pPr/>
            <a:r>
              <a:t>OpenAI has launched GPT-5, the latest version of its language model, which is smarter, faster, and more accurate than its predecessors, with a reduced hallucination rate. CEO Sam Altman described GPT-5 as a significant step towards artificial general intelligence, though it still lacks continuous learning capabilities. The launch includes new variants, GPT-5-mini and GPT-5-nano, with different pricing tiers, and a Pro tier offering unlimited access and additional features. GPT-5 excels in coding tasks and health-related queries, with improved performance on several benchmarks and a 65% reduced hallucination rate compared to previous models.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wired.com/story/openais-gpt-5-is-here/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600" b="1"/>
              <a:t>GPT-5 and the new era of work</a:t>
            </a:r>
          </a:p>
        </p:txBody>
      </p:sp>
      <p:sp>
        <p:nvSpPr>
          <p:cNvPr id="3" name="TextBox 2"/>
          <p:cNvSpPr txBox="1"/>
          <p:nvPr/>
        </p:nvSpPr>
        <p:spPr>
          <a:xfrm>
            <a:off x="640080" y="1828799"/>
            <a:ext cx="7315200" cy="731520"/>
          </a:xfrm>
          <a:prstGeom prst="rect">
            <a:avLst/>
          </a:prstGeom>
          <a:noFill/>
        </p:spPr>
        <p:txBody>
          <a:bodyPr wrap="square">
            <a:spAutoFit/>
          </a:bodyPr>
          <a:lstStyle/>
          <a:p>
            <a:r>
              <a:rPr sz="1600"/>
              <a:t>GPT-5 and the new era of work</a:t>
            </a:r>
          </a:p>
        </p:txBody>
      </p:sp>
      <p:sp>
        <p:nvSpPr>
          <p:cNvPr id="4" name="TextBox 3"/>
          <p:cNvSpPr txBox="1"/>
          <p:nvPr/>
        </p:nvSpPr>
        <p:spPr>
          <a:xfrm>
            <a:off x="640080" y="2651760"/>
            <a:ext cx="7315200" cy="3840480"/>
          </a:xfrm>
          <a:prstGeom prst="rect">
            <a:avLst/>
          </a:prstGeom>
          <a:noFill/>
        </p:spPr>
        <p:txBody>
          <a:bodyPr wrap="square">
            <a:spAutoFit/>
          </a:bodyPr>
          <a:lstStyle/>
          <a:p>
            <a:pPr/>
            <a:r>
              <a:t>GPT-5 is OpenAI’s most advanced model—transforming enterprise AI, automation, and workforce productivity in the new era of intelligent work.</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openai.com/index/gpt-5-new-era-of-work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600" b="1"/>
              <a:t>First look at GPT-5</a:t>
            </a:r>
          </a:p>
        </p:txBody>
      </p:sp>
      <p:sp>
        <p:nvSpPr>
          <p:cNvPr id="3" name="TextBox 2"/>
          <p:cNvSpPr txBox="1"/>
          <p:nvPr/>
        </p:nvSpPr>
        <p:spPr>
          <a:xfrm>
            <a:off x="640080" y="1828799"/>
            <a:ext cx="7315200" cy="731520"/>
          </a:xfrm>
          <a:prstGeom prst="rect">
            <a:avLst/>
          </a:prstGeom>
          <a:noFill/>
        </p:spPr>
        <p:txBody>
          <a:bodyPr wrap="square">
            <a:spAutoFit/>
          </a:bodyPr>
          <a:lstStyle/>
          <a:p>
            <a:r>
              <a:rPr sz="1600"/>
              <a:t>First look at GPT-5</a:t>
            </a:r>
          </a:p>
        </p:txBody>
      </p:sp>
      <p:sp>
        <p:nvSpPr>
          <p:cNvPr id="4" name="TextBox 3"/>
          <p:cNvSpPr txBox="1"/>
          <p:nvPr/>
        </p:nvSpPr>
        <p:spPr>
          <a:xfrm>
            <a:off x="640080" y="2651760"/>
            <a:ext cx="7315200" cy="3840480"/>
          </a:xfrm>
          <a:prstGeom prst="rect">
            <a:avLst/>
          </a:prstGeom>
          <a:noFill/>
        </p:spPr>
        <p:txBody>
          <a:bodyPr wrap="square">
            <a:spAutoFit/>
          </a:bodyPr>
          <a:lstStyle/>
          <a:p>
            <a:pPr/>
            <a:r>
              <a:t>See how a group of leading developers use GPT-5 for the first time.</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openai.com/index/gpt-5-first-look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200" b="1"/>
              <a:t>OpenAI has finally released open-weight language models</a:t>
            </a:r>
          </a:p>
        </p:txBody>
      </p:sp>
      <p:sp>
        <p:nvSpPr>
          <p:cNvPr id="3" name="TextBox 2"/>
          <p:cNvSpPr txBox="1"/>
          <p:nvPr/>
        </p:nvSpPr>
        <p:spPr>
          <a:xfrm>
            <a:off x="640080" y="1828799"/>
            <a:ext cx="7315200" cy="731520"/>
          </a:xfrm>
          <a:prstGeom prst="rect">
            <a:avLst/>
          </a:prstGeom>
          <a:noFill/>
        </p:spPr>
        <p:txBody>
          <a:bodyPr wrap="square">
            <a:spAutoFit/>
          </a:bodyPr>
          <a:lstStyle/>
          <a:p>
            <a:r>
              <a:rPr sz="1600"/>
              <a:t>OpenAI has finally released open-weight language models</a:t>
            </a:r>
          </a:p>
        </p:txBody>
      </p:sp>
      <p:sp>
        <p:nvSpPr>
          <p:cNvPr id="4" name="TextBox 3"/>
          <p:cNvSpPr txBox="1"/>
          <p:nvPr/>
        </p:nvSpPr>
        <p:spPr>
          <a:xfrm>
            <a:off x="640080" y="2651760"/>
            <a:ext cx="7315200" cy="3840480"/>
          </a:xfrm>
          <a:prstGeom prst="rect">
            <a:avLst/>
          </a:prstGeom>
          <a:noFill/>
        </p:spPr>
        <p:txBody>
          <a:bodyPr wrap="square">
            <a:spAutoFit/>
          </a:bodyPr>
          <a:lstStyle/>
          <a:p>
            <a:pPr/>
            <a:r>
              <a:t>OpenAI has released its first open-weight large language models since 2019, named "gpt-oss," available in two sizes and comparable to its o3-mini and o4-mini models. These models can be freely downloaded, run, and modified on local devices, addressing the demand for open models in the US amid China's growing dominance in the field. The release under a permissive Apache 2.0 license allows commercial use and aims to reestablish OpenAI's presence in the open model community, competing with Meta's Llama and Chinese models like DeepSeek and Alibaba's Qwen. This move aligns with the US AI Action Plan, potentially offering OpenAI political advantages as it seeks to expand its computational infrastructure.</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technologyreview.com/2025/08/05/1121092/openai-has-finally-released-open-weight-language-models/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600" b="1"/>
              <a:t>Introducing gpt-oss</a:t>
            </a:r>
          </a:p>
        </p:txBody>
      </p:sp>
      <p:sp>
        <p:nvSpPr>
          <p:cNvPr id="3" name="TextBox 2"/>
          <p:cNvSpPr txBox="1"/>
          <p:nvPr/>
        </p:nvSpPr>
        <p:spPr>
          <a:xfrm>
            <a:off x="640080" y="1828799"/>
            <a:ext cx="7315200" cy="731520"/>
          </a:xfrm>
          <a:prstGeom prst="rect">
            <a:avLst/>
          </a:prstGeom>
          <a:noFill/>
        </p:spPr>
        <p:txBody>
          <a:bodyPr wrap="square">
            <a:spAutoFit/>
          </a:bodyPr>
          <a:lstStyle/>
          <a:p>
            <a:r>
              <a:rPr sz="1600"/>
              <a:t>Introducing gpt-oss</a:t>
            </a:r>
          </a:p>
        </p:txBody>
      </p:sp>
      <p:sp>
        <p:nvSpPr>
          <p:cNvPr id="4" name="TextBox 3"/>
          <p:cNvSpPr txBox="1"/>
          <p:nvPr/>
        </p:nvSpPr>
        <p:spPr>
          <a:xfrm>
            <a:off x="640080" y="2651760"/>
            <a:ext cx="7315200" cy="3840480"/>
          </a:xfrm>
          <a:prstGeom prst="rect">
            <a:avLst/>
          </a:prstGeom>
          <a:noFill/>
        </p:spPr>
        <p:txBody>
          <a:bodyPr wrap="square">
            <a:spAutoFit/>
          </a:bodyPr>
          <a:lstStyle/>
          <a:p>
            <a:pPr/>
            <a:r>
              <a:t>We’re releasing gpt-oss-120b and gpt-oss-20b—two state-of-the-art open-weight language models that deliver strong real-world performance at low cost. Available under the flexible Apache 2.0 license, these models outperform similarly sized open models on reasoning tasks, demonstrate strong tool use capabilities, and are optimized for efficient deployment on consumer hardware.</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openai.com/index/introducing-gpt-oss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200" b="1"/>
              <a:t>CrowdStrike, Uber, Zoom Among Industry Pioneers Building Smarter Agents With NVIDIA Nemotron and Cosmos Reasoning Models for Enterprise and Physical AI Applications</a:t>
            </a:r>
          </a:p>
        </p:txBody>
      </p:sp>
      <p:sp>
        <p:nvSpPr>
          <p:cNvPr id="3" name="TextBox 2"/>
          <p:cNvSpPr txBox="1"/>
          <p:nvPr/>
        </p:nvSpPr>
        <p:spPr>
          <a:xfrm>
            <a:off x="640080" y="2240280"/>
            <a:ext cx="7315200" cy="731520"/>
          </a:xfrm>
          <a:prstGeom prst="rect">
            <a:avLst/>
          </a:prstGeom>
          <a:noFill/>
        </p:spPr>
        <p:txBody>
          <a:bodyPr wrap="square">
            <a:spAutoFit/>
          </a:bodyPr>
          <a:lstStyle/>
          <a:p>
            <a:r>
              <a:rPr sz="1600"/>
              <a:t>CrowdStrike, Uber, Zoom Among Industry Pioneers Building Smarter Agents With NVIDIA Nemotron and Cosmos Reasoning Models for Enterprise and Physical AI Applications</a:t>
            </a:r>
          </a:p>
        </p:txBody>
      </p:sp>
      <p:sp>
        <p:nvSpPr>
          <p:cNvPr id="4" name="TextBox 3"/>
          <p:cNvSpPr txBox="1"/>
          <p:nvPr/>
        </p:nvSpPr>
        <p:spPr>
          <a:xfrm>
            <a:off x="640080" y="3063240"/>
            <a:ext cx="7315200" cy="3840480"/>
          </a:xfrm>
          <a:prstGeom prst="rect">
            <a:avLst/>
          </a:prstGeom>
          <a:noFill/>
        </p:spPr>
        <p:txBody>
          <a:bodyPr wrap="square">
            <a:spAutoFit/>
          </a:bodyPr>
          <a:lstStyle/>
          <a:p>
            <a:pPr/>
            <a:r>
              <a:t>Capgemini predicts AI agents will generate up to $450 billion in revenue gains and cost savings by 2028. NVIDIA announced expansions of its Nemotron and Cosmos model families at SIGGRAPH, which are being used by companies like CrowdStrike, Uber, and Zoom to enhance AI agent productivity. The new Nemotron models, including Nemotron Nano 2 and Llama Nemotron Super 1.5, offer high accuracy and efficiency, with the latter achieving 6x higher throughput on NVIDIA B200 GPUs. Cosmos Reason, a new reasoning vision language model, is designed for physical AI applications, enabling robots to understand and interact with the real world, and is being tested by companies like Uber and Magna for autonomous driving and urban intelligence.</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blogs.nvidia.com/blog/nemotron-cosmos-reasoning-enterprise-physical-ai/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800" b="1"/>
              <a:t>Introducing AEGIS — The Guardrails That CISOs Need For The Agentic Enterprise</a:t>
            </a:r>
          </a:p>
        </p:txBody>
      </p:sp>
      <p:sp>
        <p:nvSpPr>
          <p:cNvPr id="3" name="TextBox 2"/>
          <p:cNvSpPr txBox="1"/>
          <p:nvPr/>
        </p:nvSpPr>
        <p:spPr>
          <a:xfrm>
            <a:off x="640080" y="1828799"/>
            <a:ext cx="7315200" cy="731520"/>
          </a:xfrm>
          <a:prstGeom prst="rect">
            <a:avLst/>
          </a:prstGeom>
          <a:noFill/>
        </p:spPr>
        <p:txBody>
          <a:bodyPr wrap="square">
            <a:spAutoFit/>
          </a:bodyPr>
          <a:lstStyle/>
          <a:p>
            <a:r>
              <a:rPr sz="1600"/>
              <a:t>Introducing AEGIS — The Guardrails That CISOs Need For The Agentic Enterprise</a:t>
            </a:r>
          </a:p>
        </p:txBody>
      </p:sp>
      <p:sp>
        <p:nvSpPr>
          <p:cNvPr id="4" name="TextBox 3"/>
          <p:cNvSpPr txBox="1"/>
          <p:nvPr/>
        </p:nvSpPr>
        <p:spPr>
          <a:xfrm>
            <a:off x="640080" y="2651760"/>
            <a:ext cx="7315200" cy="3840480"/>
          </a:xfrm>
          <a:prstGeom prst="rect">
            <a:avLst/>
          </a:prstGeom>
          <a:noFill/>
        </p:spPr>
        <p:txBody>
          <a:bodyPr wrap="square">
            <a:spAutoFit/>
          </a:bodyPr>
          <a:lstStyle/>
          <a:p>
            <a:pPr/>
            <a:r>
              <a:t>Forrester has introduced AEGIS, a framework designed to help CISOs secure agentic AI enterprises, which are characterized by autonomous, scalable systems that exhibit emergent behavior. Traditional cybersecurity models are inadequate for these systems, which can bypass entitlements, trigger cascading failures, and obscure causal provenance. AEGIS consists of six domains: Governance, Risk, and Compliance (GRC); Identity and Access Management (IAM); Data Security and Privacy; Application Security; Threat Management; and Zero Trust Architecture. The framework emphasizes principles like least agency and continuous assurance, and provides a phased implementation roadmap to help organizations adapt to the new paradigm of securing intent rather than infrastructure.</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forrester.com/blogs/introducing-aegis-the-guardrails-cisos-need-for-the-agentic-enterprise/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200" b="1"/>
              <a:t>Early Adopters Share AI-Centric Service Desk Results</a:t>
            </a:r>
          </a:p>
        </p:txBody>
      </p:sp>
      <p:sp>
        <p:nvSpPr>
          <p:cNvPr id="3" name="TextBox 2"/>
          <p:cNvSpPr txBox="1"/>
          <p:nvPr/>
        </p:nvSpPr>
        <p:spPr>
          <a:xfrm>
            <a:off x="640080" y="1828799"/>
            <a:ext cx="7315200" cy="731520"/>
          </a:xfrm>
          <a:prstGeom prst="rect">
            <a:avLst/>
          </a:prstGeom>
          <a:noFill/>
        </p:spPr>
        <p:txBody>
          <a:bodyPr wrap="square">
            <a:spAutoFit/>
          </a:bodyPr>
          <a:lstStyle/>
          <a:p>
            <a:r>
              <a:rPr sz="1600"/>
              <a:t>Early Adopters Share AI-Centric Service Desk Results</a:t>
            </a:r>
          </a:p>
        </p:txBody>
      </p:sp>
      <p:sp>
        <p:nvSpPr>
          <p:cNvPr id="4" name="TextBox 3"/>
          <p:cNvSpPr txBox="1"/>
          <p:nvPr/>
        </p:nvSpPr>
        <p:spPr>
          <a:xfrm>
            <a:off x="640080" y="2651760"/>
            <a:ext cx="7315200" cy="3840480"/>
          </a:xfrm>
          <a:prstGeom prst="rect">
            <a:avLst/>
          </a:prstGeom>
          <a:noFill/>
        </p:spPr>
        <p:txBody>
          <a:bodyPr wrap="square">
            <a:spAutoFit/>
          </a:bodyPr>
          <a:lstStyle/>
          <a:p>
            <a:pPr/>
            <a:r>
              <a:t>Early adopters of AI-centric service desks have reported productivity gains, such as a global technology company achieving over 50% productivity improvement in chat summarization and a financial services organization reducing its frontline team from 30 to 12 agents while maintaining service levels. A retail organization automated one-third of its 57,000 annual service requests, eliminating human intervention for 20,000 tasks. Success in AI implementation is linked to robust knowledge bases and skill development, with organizations needing to invest in content creation and training to achieve meaningful results. The transition to AI service desks is evolutionary, requiring patience, investment, and realistic expectations.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forrester.com/blogs/early-adopters-share-ai-centric-service-desk-results/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600" b="1"/>
              <a:t>Coding and design with GPT-5</a:t>
            </a:r>
          </a:p>
        </p:txBody>
      </p:sp>
      <p:sp>
        <p:nvSpPr>
          <p:cNvPr id="3" name="TextBox 2"/>
          <p:cNvSpPr txBox="1"/>
          <p:nvPr/>
        </p:nvSpPr>
        <p:spPr>
          <a:xfrm>
            <a:off x="640080" y="1828799"/>
            <a:ext cx="7315200" cy="731520"/>
          </a:xfrm>
          <a:prstGeom prst="rect">
            <a:avLst/>
          </a:prstGeom>
          <a:noFill/>
        </p:spPr>
        <p:txBody>
          <a:bodyPr wrap="square">
            <a:spAutoFit/>
          </a:bodyPr>
          <a:lstStyle/>
          <a:p>
            <a:r>
              <a:rPr sz="1600"/>
              <a:t>Coding and design with GPT-5</a:t>
            </a:r>
          </a:p>
        </p:txBody>
      </p:sp>
      <p:sp>
        <p:nvSpPr>
          <p:cNvPr id="4" name="TextBox 3"/>
          <p:cNvSpPr txBox="1"/>
          <p:nvPr/>
        </p:nvSpPr>
        <p:spPr>
          <a:xfrm>
            <a:off x="640080" y="2651760"/>
            <a:ext cx="7315200" cy="3840480"/>
          </a:xfrm>
          <a:prstGeom prst="rect">
            <a:avLst/>
          </a:prstGeom>
          <a:noFill/>
        </p:spPr>
        <p:txBody>
          <a:bodyPr wrap="square">
            <a:spAutoFit/>
          </a:bodyPr>
          <a:lstStyle/>
          <a:p>
            <a:pPr/>
            <a:r>
              <a:t>Learn how GPT-5 unlocks new possibilities in coding and design.</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openai.com/index/gpt-5-coding-design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600" b="1"/>
              <a:t>Scaling accounting capacity with OpenAI</a:t>
            </a:r>
          </a:p>
        </p:txBody>
      </p:sp>
      <p:sp>
        <p:nvSpPr>
          <p:cNvPr id="3" name="TextBox 2"/>
          <p:cNvSpPr txBox="1"/>
          <p:nvPr/>
        </p:nvSpPr>
        <p:spPr>
          <a:xfrm>
            <a:off x="640080" y="1828799"/>
            <a:ext cx="7315200" cy="731520"/>
          </a:xfrm>
          <a:prstGeom prst="rect">
            <a:avLst/>
          </a:prstGeom>
          <a:noFill/>
        </p:spPr>
        <p:txBody>
          <a:bodyPr wrap="square">
            <a:spAutoFit/>
          </a:bodyPr>
          <a:lstStyle/>
          <a:p>
            <a:r>
              <a:rPr sz="1600"/>
              <a:t>Scaling accounting capacity with OpenAI</a:t>
            </a:r>
          </a:p>
        </p:txBody>
      </p:sp>
      <p:sp>
        <p:nvSpPr>
          <p:cNvPr id="4" name="TextBox 3"/>
          <p:cNvSpPr txBox="1"/>
          <p:nvPr/>
        </p:nvSpPr>
        <p:spPr>
          <a:xfrm>
            <a:off x="640080" y="2651760"/>
            <a:ext cx="7315200" cy="3840480"/>
          </a:xfrm>
          <a:prstGeom prst="rect">
            <a:avLst/>
          </a:prstGeom>
          <a:noFill/>
        </p:spPr>
        <p:txBody>
          <a:bodyPr wrap="square">
            <a:spAutoFit/>
          </a:bodyPr>
          <a:lstStyle/>
          <a:p>
            <a:pPr/>
            <a:r>
              <a:t>Built with OpenAI o3, o3-Pro, GPT-4.1, and GPT-5, Basis’ AI agents help accounting firms save up to 30% of their time and expand capacity for advisory and growth.</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openai.com/index/basis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