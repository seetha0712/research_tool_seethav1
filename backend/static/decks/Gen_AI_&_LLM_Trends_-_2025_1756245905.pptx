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ytimes.com/2025/08/13/business/ai-business-payoff-lags.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invest.com/news/japanese-banks-digital-transformation-strategic-positioning-rising-rate-environment-250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jri.co.jp/file/advanced/advanced-technology/pdf/15800_en.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ttdata.com/global/en/news/press-release/2025/february/02100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roadridge.com/campaign/ai-adoption-in-japan-financial-secto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479/grasshopper-bank-adopts-narmis-mcp-server-for-ai-business-insights?utm_medium=rssfinextra&amp;utm_source=finextrafee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479/grasshopper-bank-adopts-narmis-mcp-server-for-ai-business-insights?utm_medium=rssfinextra&amp;utm_source=finextrafee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pressarticle/106756/fnz-rolls-out-advisor-ai?utm_medium=rssfinextra&amp;utm_source=finextrafee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443/commbank-joins-openai-goldrush?utm_medium=rssfinextra&amp;utm_source=finextrafee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441/santander-partners-openai-to-become-ai-native-bank?utm_medium=rssfinextra&amp;utm_source=finextrafee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extra.com/newsarticle/46424/google-finance-gets-ai-reboot?utm_medium=rssfinextra&amp;utm_source=finextrafee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chnologyreview.com/2025/08/21/1122288/google-gemini-ai-energ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gpt-5-new-era-of-wor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introducing-gpt-os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i.com/index/mixi"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news.mit.edu/2025/how-ai-could-speed-development-rna-vaccines-and-other-rna-therapies-0815"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16</a:t>
            </a:r>
          </a:p>
          <a:p>
            <a:pPr lvl="1"/>
            <a:r>
              <a:t>Uncategorized: 0</a:t>
            </a:r>
          </a:p>
          <a:p>
            <a:pPr lvl="1"/>
            <a:r>
              <a:t>AI &amp; GenAI Trends: 5</a:t>
            </a:r>
          </a:p>
          <a:p>
            <a:pPr lvl="1"/>
            <a:r>
              <a:t>AI in Financial Institutions: 6</a:t>
            </a:r>
          </a:p>
          <a:p>
            <a:pPr lvl="1"/>
            <a:r>
              <a:t>Leading AI Innovators: 3</a:t>
            </a:r>
          </a:p>
          <a:p>
            <a:pPr lvl="1"/>
            <a:r>
              <a:t>Agentic AI: 0</a:t>
            </a:r>
          </a:p>
          <a:p>
            <a:pPr lvl="1"/>
            <a:r>
              <a:t>Broader AI Topics: 0</a:t>
            </a:r>
          </a:p>
          <a:p>
            <a:pPr lvl="1"/>
            <a:r>
              <a:t>Tech Corner: 0</a:t>
            </a:r>
          </a:p>
          <a:p>
            <a:pPr lvl="1"/>
            <a:r>
              <a:t>AI Beyond Finance: 2</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Companies Are Pouring Billions Into A.I. It Has Yet to Pay Off.</a:t>
            </a:r>
          </a:p>
        </p:txBody>
      </p:sp>
      <p:sp>
        <p:nvSpPr>
          <p:cNvPr id="3" name="TextBox 2"/>
          <p:cNvSpPr txBox="1"/>
          <p:nvPr/>
        </p:nvSpPr>
        <p:spPr>
          <a:xfrm>
            <a:off x="640080" y="1828799"/>
            <a:ext cx="7315200" cy="731520"/>
          </a:xfrm>
          <a:prstGeom prst="rect">
            <a:avLst/>
          </a:prstGeom>
          <a:noFill/>
        </p:spPr>
        <p:txBody>
          <a:bodyPr wrap="square">
            <a:spAutoFit/>
          </a:bodyPr>
          <a:lstStyle/>
          <a:p>
            <a:r>
              <a:rPr sz="1600"/>
              <a:t>Companies Are Pouring Billions Into A.I. It Has Yet to Pay Off.</a:t>
            </a:r>
          </a:p>
        </p:txBody>
      </p:sp>
      <p:sp>
        <p:nvSpPr>
          <p:cNvPr id="4" name="TextBox 3"/>
          <p:cNvSpPr txBox="1"/>
          <p:nvPr/>
        </p:nvSpPr>
        <p:spPr>
          <a:xfrm>
            <a:off x="640080" y="2651760"/>
            <a:ext cx="7315200" cy="3840480"/>
          </a:xfrm>
          <a:prstGeom prst="rect">
            <a:avLst/>
          </a:prstGeom>
          <a:noFill/>
        </p:spPr>
        <p:txBody>
          <a:bodyPr wrap="square">
            <a:spAutoFit/>
          </a:bodyPr>
          <a:lstStyle/>
          <a:p>
            <a:pPr/>
            <a:r>
              <a:t>Corporate spending on artificial intelligence is surging as executives bank on major efficiency gains. So far, they report little effect to the bottom line.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nytimes.com/2025/08/13/business/ai-business-payoff-lags.html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Japanese Banks' Digital Transformation and Strategic ...</a:t>
            </a:r>
          </a:p>
        </p:txBody>
      </p:sp>
      <p:sp>
        <p:nvSpPr>
          <p:cNvPr id="3" name="TextBox 2"/>
          <p:cNvSpPr txBox="1"/>
          <p:nvPr/>
        </p:nvSpPr>
        <p:spPr>
          <a:xfrm>
            <a:off x="640080" y="1828799"/>
            <a:ext cx="7315200" cy="731520"/>
          </a:xfrm>
          <a:prstGeom prst="rect">
            <a:avLst/>
          </a:prstGeom>
          <a:noFill/>
        </p:spPr>
        <p:txBody>
          <a:bodyPr wrap="square">
            <a:spAutoFit/>
          </a:bodyPr>
          <a:lstStyle/>
          <a:p>
            <a:r>
              <a:rPr sz="1600"/>
              <a:t>Japanese Banks' Digital Transformation and Strategic ...</a:t>
            </a:r>
          </a:p>
        </p:txBody>
      </p:sp>
      <p:sp>
        <p:nvSpPr>
          <p:cNvPr id="4" name="TextBox 3"/>
          <p:cNvSpPr txBox="1"/>
          <p:nvPr/>
        </p:nvSpPr>
        <p:spPr>
          <a:xfrm>
            <a:off x="640080" y="2651760"/>
            <a:ext cx="7315200" cy="3840480"/>
          </a:xfrm>
          <a:prstGeom prst="rect">
            <a:avLst/>
          </a:prstGeom>
          <a:noFill/>
        </p:spPr>
        <p:txBody>
          <a:bodyPr wrap="square">
            <a:spAutoFit/>
          </a:bodyPr>
          <a:lstStyle/>
          <a:p>
            <a:pPr/>
            <a:r>
              <a:t>The Japanese banking sector is experiencing significant changes as traditional megabanks like Mitsubishi UFJ Financial Group, Sumitomo Mitsui Financial Group, and Mizuho Financial Group compete with digital banks such as Rakuten Bank, SBI Sumishin Net Bank, and Sony Bank amid rising interest rates and digital transformation. Megabanks are investing over ¥1 trillion in digital initiatives by 2025, but face challenges with legacy systems and cost-to-income ratios, while digital banks have grown deposits at a 16.5% CAGR over five years, benefiting from higher fixed deposit rates and operational efficiency. The Bank of Japan's rate hikes have increased net interest margins across the sector, with megabanks gaining from higher lending margins and digital banks benefiting from their ability to quickly adjust deposit rates. Investors should consider both megabanks for their resilience and digital banks for high-growth potential, balancing the risks of digital disruption with the stability of traditional banks.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ainvest.com/news/japanese-banks-digital-transformation-strategic-positioning-rising-rate-environment-2507/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[PDF] Finance × Generative AI</a:t>
            </a:r>
          </a:p>
        </p:txBody>
      </p:sp>
      <p:sp>
        <p:nvSpPr>
          <p:cNvPr id="3" name="TextBox 2"/>
          <p:cNvSpPr txBox="1"/>
          <p:nvPr/>
        </p:nvSpPr>
        <p:spPr>
          <a:xfrm>
            <a:off x="640080" y="1828799"/>
            <a:ext cx="7315200" cy="731520"/>
          </a:xfrm>
          <a:prstGeom prst="rect">
            <a:avLst/>
          </a:prstGeom>
          <a:noFill/>
        </p:spPr>
        <p:txBody>
          <a:bodyPr wrap="square">
            <a:spAutoFit/>
          </a:bodyPr>
          <a:lstStyle/>
          <a:p>
            <a:r>
              <a:rPr sz="1600"/>
              <a:t>[PDF] Finance × Generative AI</a:t>
            </a:r>
          </a:p>
        </p:txBody>
      </p:sp>
      <p:sp>
        <p:nvSpPr>
          <p:cNvPr id="4" name="TextBox 3"/>
          <p:cNvSpPr txBox="1"/>
          <p:nvPr/>
        </p:nvSpPr>
        <p:spPr>
          <a:xfrm>
            <a:off x="640080" y="2651760"/>
            <a:ext cx="7315200" cy="3840480"/>
          </a:xfrm>
          <a:prstGeom prst="rect">
            <a:avLst/>
          </a:prstGeom>
          <a:noFill/>
        </p:spPr>
        <p:txBody>
          <a:bodyPr wrap="square">
            <a:spAutoFit/>
          </a:bodyPr>
          <a:lstStyle/>
          <a:p>
            <a:pPr/>
            <a:r>
              <a:t>The Japan Research Institute's 2025 study highlights that leading financial firms are prioritizing the development of multimodal AI and robotics, which accounts for 32% of their tech focus. Additionally, there is a significant emphasis on fairness, privacy, and security (19%), as well as time series forecasting and analysis (16%), and finance-specific language models and natural language processing (16%). The study also notes that these firms are increasingly concentrating on creating clear prompts and integrating explicit knowledge into their AI strategies.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jri.co.jp/file/advanced/advanced-technology/pdf/15800_en.pdf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NTT DATA Unveils Global Insights on GenAI Adoption in Banking</a:t>
            </a:r>
          </a:p>
        </p:txBody>
      </p:sp>
      <p:sp>
        <p:nvSpPr>
          <p:cNvPr id="3" name="TextBox 2"/>
          <p:cNvSpPr txBox="1"/>
          <p:nvPr/>
        </p:nvSpPr>
        <p:spPr>
          <a:xfrm>
            <a:off x="640080" y="1828799"/>
            <a:ext cx="7315200" cy="731520"/>
          </a:xfrm>
          <a:prstGeom prst="rect">
            <a:avLst/>
          </a:prstGeom>
          <a:noFill/>
        </p:spPr>
        <p:txBody>
          <a:bodyPr wrap="square">
            <a:spAutoFit/>
          </a:bodyPr>
          <a:lstStyle/>
          <a:p>
            <a:r>
              <a:rPr sz="1600"/>
              <a:t>NTT DATA Unveils Global Insights on GenAI Adoption in Banking</a:t>
            </a:r>
          </a:p>
        </p:txBody>
      </p:sp>
      <p:sp>
        <p:nvSpPr>
          <p:cNvPr id="4" name="TextBox 3"/>
          <p:cNvSpPr txBox="1"/>
          <p:nvPr/>
        </p:nvSpPr>
        <p:spPr>
          <a:xfrm>
            <a:off x="640080" y="2651760"/>
            <a:ext cx="7315200" cy="3840480"/>
          </a:xfrm>
          <a:prstGeom prst="rect">
            <a:avLst/>
          </a:prstGeom>
          <a:noFill/>
        </p:spPr>
        <p:txBody>
          <a:bodyPr wrap="square">
            <a:spAutoFit/>
          </a:bodyPr>
          <a:lstStyle/>
          <a:p>
            <a:pPr/>
            <a:r>
              <a:t>NTT DATA's report "Intelligent banking in the Age of AI" reveals that the adoption of generative AI (GenAI) in the banking sector is increasing, with 58% of organizations fully embracing it, up from 45% in 2023. The report highlights a split in strategies, with 50% of banks focusing on productivity and 49% on reducing operational IT costs. Regional differences are evident, as 59% of US banks aim to cut IT budgets, while only 43% of European banks prioritize this. The report emphasizes the need for a clear strategy, tailored implementation, and robust governance to achieve ROI from GenAI investments.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nttdata.com/global/en/news/press-release/2025/february/021001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AI Adoption in Japan's Financial Sector</a:t>
            </a:r>
          </a:p>
        </p:txBody>
      </p:sp>
      <p:sp>
        <p:nvSpPr>
          <p:cNvPr id="3" name="TextBox 2"/>
          <p:cNvSpPr txBox="1"/>
          <p:nvPr/>
        </p:nvSpPr>
        <p:spPr>
          <a:xfrm>
            <a:off x="640080" y="1828799"/>
            <a:ext cx="7315200" cy="731520"/>
          </a:xfrm>
          <a:prstGeom prst="rect">
            <a:avLst/>
          </a:prstGeom>
          <a:noFill/>
        </p:spPr>
        <p:txBody>
          <a:bodyPr wrap="square">
            <a:spAutoFit/>
          </a:bodyPr>
          <a:lstStyle/>
          <a:p>
            <a:r>
              <a:rPr sz="1600"/>
              <a:t>AI Adoption in Japan's Financial Sector</a:t>
            </a:r>
          </a:p>
        </p:txBody>
      </p:sp>
      <p:sp>
        <p:nvSpPr>
          <p:cNvPr id="4" name="TextBox 3"/>
          <p:cNvSpPr txBox="1"/>
          <p:nvPr/>
        </p:nvSpPr>
        <p:spPr>
          <a:xfrm>
            <a:off x="640080" y="2651760"/>
            <a:ext cx="7315200" cy="3840480"/>
          </a:xfrm>
          <a:prstGeom prst="rect">
            <a:avLst/>
          </a:prstGeom>
          <a:noFill/>
        </p:spPr>
        <p:txBody>
          <a:bodyPr wrap="square">
            <a:spAutoFit/>
          </a:bodyPr>
          <a:lstStyle/>
          <a:p>
            <a:pPr/>
            <a:r>
              <a:t>Japanese firms are focusing on employee training and AI literacy to drive digital transformation, emphasizing talent and culture over technology upgrades. Cybersecurity is a top priority for technology partnerships, with a preference for collaborative relationships and secure, interoperable solutions. AI is valued for advanced analytics and decision-making, with tools like Broadridge's GenAI-powered platform enhancing operational efficiency. The financial sector in Japan is cautiously expanding AI use, prioritizing cybersecurity and governance, with gradual progress expected in the coming years.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broadridge.com/campaign/ai-adoption-in-japan-financial-sector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Grasshopper Bank adopts Narmi's MCP server for AI business insights</a:t>
            </a:r>
          </a:p>
        </p:txBody>
      </p:sp>
      <p:sp>
        <p:nvSpPr>
          <p:cNvPr id="3" name="TextBox 2"/>
          <p:cNvSpPr txBox="1"/>
          <p:nvPr/>
        </p:nvSpPr>
        <p:spPr>
          <a:xfrm>
            <a:off x="640080" y="1828799"/>
            <a:ext cx="7315200" cy="731520"/>
          </a:xfrm>
          <a:prstGeom prst="rect">
            <a:avLst/>
          </a:prstGeom>
          <a:noFill/>
        </p:spPr>
        <p:txBody>
          <a:bodyPr wrap="square">
            <a:spAutoFit/>
          </a:bodyPr>
          <a:lstStyle/>
          <a:p>
            <a:r>
              <a:rPr sz="1600"/>
              <a:t>Grasshopper Bank adopts Narmi's MCP server for AI business insights</a:t>
            </a:r>
          </a:p>
        </p:txBody>
      </p:sp>
      <p:sp>
        <p:nvSpPr>
          <p:cNvPr id="4" name="TextBox 3"/>
          <p:cNvSpPr txBox="1"/>
          <p:nvPr/>
        </p:nvSpPr>
        <p:spPr>
          <a:xfrm>
            <a:off x="640080" y="2651760"/>
            <a:ext cx="7315200" cy="3840480"/>
          </a:xfrm>
          <a:prstGeom prst="rect">
            <a:avLst/>
          </a:prstGeom>
          <a:noFill/>
        </p:spPr>
        <p:txBody>
          <a:bodyPr wrap="square">
            <a:spAutoFit/>
          </a:bodyPr>
          <a:lstStyle/>
          <a:p>
            <a:pPr/>
            <a:r>
              <a:t>Grasshopper, a digital business bank, has entered a private beta phase of Narmi's Model Context Protocol (MCP) server, enabling client queries through Anthropic's AI assistant Claude. This integration allows Grasshopper's clients to securely access financial information and receive personalized insights in real-time, such as checking account balances and vendor categorization, through conversational AI. The MCP server is currently available to a limited group of clients, with plans to expand in Q4 2025, and Grasshopper aims to integrate additional Large Language Models (LLMs) as the pilot progresses. Grasshopper, which serves small businesses and startups, recently raised $46.6 million to support a merger with Auto Club Trust.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finextra.com/newsarticle/46479/grasshopper-bank-adopts-narmis-mcp-server-for-ai-business-insights?utm_medium=rssfinextra&amp;utm_source=finextrafeed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Grasshopper Bank adopts Narmi's MCP server for AI business insights</a:t>
            </a:r>
          </a:p>
        </p:txBody>
      </p:sp>
      <p:sp>
        <p:nvSpPr>
          <p:cNvPr id="3" name="TextBox 2"/>
          <p:cNvSpPr txBox="1"/>
          <p:nvPr/>
        </p:nvSpPr>
        <p:spPr>
          <a:xfrm>
            <a:off x="640080" y="1828799"/>
            <a:ext cx="7315200" cy="731520"/>
          </a:xfrm>
          <a:prstGeom prst="rect">
            <a:avLst/>
          </a:prstGeom>
          <a:noFill/>
        </p:spPr>
        <p:txBody>
          <a:bodyPr wrap="square">
            <a:spAutoFit/>
          </a:bodyPr>
          <a:lstStyle/>
          <a:p>
            <a:r>
              <a:rPr sz="1600"/>
              <a:t>Grasshopper Bank adopts Narmi's MCP server for AI business insights</a:t>
            </a:r>
          </a:p>
        </p:txBody>
      </p:sp>
      <p:sp>
        <p:nvSpPr>
          <p:cNvPr id="4" name="TextBox 3"/>
          <p:cNvSpPr txBox="1"/>
          <p:nvPr/>
        </p:nvSpPr>
        <p:spPr>
          <a:xfrm>
            <a:off x="640080" y="2651760"/>
            <a:ext cx="7315200" cy="3840480"/>
          </a:xfrm>
          <a:prstGeom prst="rect">
            <a:avLst/>
          </a:prstGeom>
          <a:noFill/>
        </p:spPr>
        <p:txBody>
          <a:bodyPr wrap="square">
            <a:spAutoFit/>
          </a:bodyPr>
          <a:lstStyle/>
          <a:p>
            <a:pPr/>
            <a:r>
              <a:t>Digital business bank Grasshopper has moved into a private beta of Narmi's Model Context Protocol (MCP) server, laying the groundwork for client queries via Anthropic's AI assistant Claude.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finextra.com/newsarticle/46479/grasshopper-bank-adopts-narmis-mcp-server-for-ai-business-insights?utm_medium=rssfinextra&amp;utm_source=finextrafeed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FNZ rolls out Advisor AI</a:t>
            </a:r>
          </a:p>
        </p:txBody>
      </p:sp>
      <p:sp>
        <p:nvSpPr>
          <p:cNvPr id="3" name="TextBox 2"/>
          <p:cNvSpPr txBox="1"/>
          <p:nvPr/>
        </p:nvSpPr>
        <p:spPr>
          <a:xfrm>
            <a:off x="640080" y="1828799"/>
            <a:ext cx="7315200" cy="731520"/>
          </a:xfrm>
          <a:prstGeom prst="rect">
            <a:avLst/>
          </a:prstGeom>
          <a:noFill/>
        </p:spPr>
        <p:txBody>
          <a:bodyPr wrap="square">
            <a:spAutoFit/>
          </a:bodyPr>
          <a:lstStyle/>
          <a:p>
            <a:r>
              <a:rPr sz="1600"/>
              <a:t>FNZ rolls out Advisor AI</a:t>
            </a:r>
          </a:p>
        </p:txBody>
      </p:sp>
      <p:sp>
        <p:nvSpPr>
          <p:cNvPr id="4" name="TextBox 3"/>
          <p:cNvSpPr txBox="1"/>
          <p:nvPr/>
        </p:nvSpPr>
        <p:spPr>
          <a:xfrm>
            <a:off x="640080" y="2651760"/>
            <a:ext cx="7315200" cy="3840480"/>
          </a:xfrm>
          <a:prstGeom prst="rect">
            <a:avLst/>
          </a:prstGeom>
          <a:noFill/>
        </p:spPr>
        <p:txBody>
          <a:bodyPr wrap="square">
            <a:spAutoFit/>
          </a:bodyPr>
          <a:lstStyle/>
          <a:p>
            <a:pPr/>
            <a:r>
              <a:t>FNZ has launched FNZ Advisor AI, a generative AI solution integrated into its wealth management platform, aimed at enhancing financial advisors' productivity and ability to deliver personalized advice. The solution addresses the need for better technology, as 73% of clients expect more personalized services and 70% of advisors see technology as essential to meeting these expectations. FNZ Advisor AI leverages FNZ's extensive data set to provide real-time insights, automate client meeting lifecycles, and reduce administrative tasks, thereby allowing advisors to focus on client interactions. The platform is supported by a robust AI governance framework and a strategic partnership with Microsoft to enhance FNZ's AI and cloud capabilities globally.</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finextra.com/pressarticle/106756/fnz-rolls-out-advisor-ai?utm_medium=rssfinextra&amp;utm_source=finextrafeed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CommBank joins OpenAI goldrush</a:t>
            </a:r>
          </a:p>
        </p:txBody>
      </p:sp>
      <p:sp>
        <p:nvSpPr>
          <p:cNvPr id="3" name="TextBox 2"/>
          <p:cNvSpPr txBox="1"/>
          <p:nvPr/>
        </p:nvSpPr>
        <p:spPr>
          <a:xfrm>
            <a:off x="640080" y="1828799"/>
            <a:ext cx="7315200" cy="731520"/>
          </a:xfrm>
          <a:prstGeom prst="rect">
            <a:avLst/>
          </a:prstGeom>
          <a:noFill/>
        </p:spPr>
        <p:txBody>
          <a:bodyPr wrap="square">
            <a:spAutoFit/>
          </a:bodyPr>
          <a:lstStyle/>
          <a:p>
            <a:r>
              <a:rPr sz="1600"/>
              <a:t>CommBank joins OpenAI goldrush</a:t>
            </a:r>
          </a:p>
        </p:txBody>
      </p:sp>
      <p:sp>
        <p:nvSpPr>
          <p:cNvPr id="4" name="TextBox 3"/>
          <p:cNvSpPr txBox="1"/>
          <p:nvPr/>
        </p:nvSpPr>
        <p:spPr>
          <a:xfrm>
            <a:off x="640080" y="2651760"/>
            <a:ext cx="7315200" cy="3840480"/>
          </a:xfrm>
          <a:prstGeom prst="rect">
            <a:avLst/>
          </a:prstGeom>
          <a:noFill/>
        </p:spPr>
        <p:txBody>
          <a:bodyPr wrap="square">
            <a:spAutoFit/>
          </a:bodyPr>
          <a:lstStyle/>
          <a:p>
            <a:pPr/>
            <a:r>
              <a:t>Australia's CommBank has entered a multi-year agreement with OpenAI to provide employees access to ChatGPT Enterprise, aiming to enhance scam and fraud detection and deliver personalized services. The bank is also investing in training programs to boost AI capabilities and ensure responsible AI use among its workforce. Previously, CommBank partnered with Amazon Web Services to establish an 'AI Factory' to accelerate generative AI adoption across its product portfolio. This move aligns CommBank with other major institutions like BBVA, Santander, and Morgan Stanley in supporting OpenAI's latest advancements.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finextra.com/newsarticle/46443/commbank-joins-openai-goldrush?utm_medium=rssfinextra&amp;utm_source=finextrafeed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Santander partners OpenAI to become 'AI-native' bank</a:t>
            </a:r>
          </a:p>
        </p:txBody>
      </p:sp>
      <p:sp>
        <p:nvSpPr>
          <p:cNvPr id="3" name="TextBox 2"/>
          <p:cNvSpPr txBox="1"/>
          <p:nvPr/>
        </p:nvSpPr>
        <p:spPr>
          <a:xfrm>
            <a:off x="640080" y="1828799"/>
            <a:ext cx="7315200" cy="731520"/>
          </a:xfrm>
          <a:prstGeom prst="rect">
            <a:avLst/>
          </a:prstGeom>
          <a:noFill/>
        </p:spPr>
        <p:txBody>
          <a:bodyPr wrap="square">
            <a:spAutoFit/>
          </a:bodyPr>
          <a:lstStyle/>
          <a:p>
            <a:r>
              <a:rPr sz="1600"/>
              <a:t>Santander partners OpenAI to become 'AI-native' bank</a:t>
            </a:r>
          </a:p>
        </p:txBody>
      </p:sp>
      <p:sp>
        <p:nvSpPr>
          <p:cNvPr id="4" name="TextBox 3"/>
          <p:cNvSpPr txBox="1"/>
          <p:nvPr/>
        </p:nvSpPr>
        <p:spPr>
          <a:xfrm>
            <a:off x="640080" y="2651760"/>
            <a:ext cx="7315200" cy="3840480"/>
          </a:xfrm>
          <a:prstGeom prst="rect">
            <a:avLst/>
          </a:prstGeom>
          <a:noFill/>
        </p:spPr>
        <p:txBody>
          <a:bodyPr wrap="square">
            <a:spAutoFit/>
          </a:bodyPr>
          <a:lstStyle/>
          <a:p>
            <a:pPr/>
            <a:r>
              <a:t>Santander has partnered with OpenAI to deploy ChatGPT Enterprise to nearly 15,000 employees as part of its transformation into an "AI-native" bank, with plans to expand to 30,000 users by year-end. The bank is embedding AI across various functions, including product management and customer service, and has already achieved over €200 million in savings from AI initiatives in 2024. AI copilots now assist in more than 40% of contact center interactions, and Speech Analytics in Spain processes 10 million calls annually, enhancing customer service and freeing up over 100,000 hours for higher-value tasks. Santander is also implementing a mandatory AI training plan for all employees to democratize AI usage and ensure operational rigor and human empowerment.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finextra.com/newsarticle/46441/santander-partners-openai-to-become-ai-native-bank?utm_medium=rssfinextra&amp;utm_source=finextrafeed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Google Finance gets AI reboot</a:t>
            </a:r>
          </a:p>
        </p:txBody>
      </p:sp>
      <p:sp>
        <p:nvSpPr>
          <p:cNvPr id="3" name="TextBox 2"/>
          <p:cNvSpPr txBox="1"/>
          <p:nvPr/>
        </p:nvSpPr>
        <p:spPr>
          <a:xfrm>
            <a:off x="640080" y="1828799"/>
            <a:ext cx="7315200" cy="731520"/>
          </a:xfrm>
          <a:prstGeom prst="rect">
            <a:avLst/>
          </a:prstGeom>
          <a:noFill/>
        </p:spPr>
        <p:txBody>
          <a:bodyPr wrap="square">
            <a:spAutoFit/>
          </a:bodyPr>
          <a:lstStyle/>
          <a:p>
            <a:r>
              <a:rPr sz="1600"/>
              <a:t>Google Finance gets AI reboot</a:t>
            </a:r>
          </a:p>
        </p:txBody>
      </p:sp>
      <p:sp>
        <p:nvSpPr>
          <p:cNvPr id="4" name="TextBox 3"/>
          <p:cNvSpPr txBox="1"/>
          <p:nvPr/>
        </p:nvSpPr>
        <p:spPr>
          <a:xfrm>
            <a:off x="640080" y="2651760"/>
            <a:ext cx="7315200" cy="3840480"/>
          </a:xfrm>
          <a:prstGeom prst="rect">
            <a:avLst/>
          </a:prstGeom>
          <a:noFill/>
        </p:spPr>
        <p:txBody>
          <a:bodyPr wrap="square">
            <a:spAutoFit/>
          </a:bodyPr>
          <a:lstStyle/>
          <a:p>
            <a:pPr/>
            <a:r>
              <a:t>Google is enhancing its Google Finance service with artificial intelligence, allowing users to toggle between the old and new versions. The updated version enables users to ask detailed financial questions and receive comprehensive AI-generated responses, simplifying complex research. It also introduces new charting tools for visualizing financial data with technical indicators and candlestick charts, and a live news feed for real-time market updates.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finextra.com/newsarticle/46424/google-finance-gets-ai-reboot?utm_medium=rssfinextra&amp;utm_source=finextrafeed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In a first, Google has released data on how much energy an AI prompt uses</a:t>
            </a:r>
          </a:p>
        </p:txBody>
      </p:sp>
      <p:sp>
        <p:nvSpPr>
          <p:cNvPr id="3" name="TextBox 2"/>
          <p:cNvSpPr txBox="1"/>
          <p:nvPr/>
        </p:nvSpPr>
        <p:spPr>
          <a:xfrm>
            <a:off x="640080" y="1828799"/>
            <a:ext cx="7315200" cy="731520"/>
          </a:xfrm>
          <a:prstGeom prst="rect">
            <a:avLst/>
          </a:prstGeom>
          <a:noFill/>
        </p:spPr>
        <p:txBody>
          <a:bodyPr wrap="square">
            <a:spAutoFit/>
          </a:bodyPr>
          <a:lstStyle/>
          <a:p>
            <a:r>
              <a:rPr sz="1600"/>
              <a:t>In a first, Google has released data on how much energy an AI prompt uses</a:t>
            </a:r>
          </a:p>
        </p:txBody>
      </p:sp>
      <p:sp>
        <p:nvSpPr>
          <p:cNvPr id="4" name="TextBox 3"/>
          <p:cNvSpPr txBox="1"/>
          <p:nvPr/>
        </p:nvSpPr>
        <p:spPr>
          <a:xfrm>
            <a:off x="640080" y="2651760"/>
            <a:ext cx="7315200" cy="3840480"/>
          </a:xfrm>
          <a:prstGeom prst="rect">
            <a:avLst/>
          </a:prstGeom>
          <a:noFill/>
        </p:spPr>
        <p:txBody>
          <a:bodyPr wrap="square">
            <a:spAutoFit/>
          </a:bodyPr>
          <a:lstStyle/>
          <a:p>
            <a:pPr/>
            <a:r>
              <a:t>Google has released a technical report detailing the energy consumption of its AI Gemini apps, revealing that the median prompt uses 0.24 watt-hours of electricity, equivalent to running a microwave for one second. The report also estimates that each prompt results in 0.03 grams of carbon emissions and consumes 0.26 milliliters of water. The study highlights that Google's custom TPUs account for 58% of the total energy demand, with additional energy used by CPUs, memory, and data center overhead. This transparency marks a significant step in understanding AI's energy use, with the report noting a 33-fold reduction in energy consumption per prompt from May 2024 to May 2025 due to model advancements and optimizations.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technologyreview.com/2025/08/21/1122288/google-gemini-ai-energy/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GPT-5 and the new era of work</a:t>
            </a:r>
          </a:p>
        </p:txBody>
      </p:sp>
      <p:sp>
        <p:nvSpPr>
          <p:cNvPr id="3" name="TextBox 2"/>
          <p:cNvSpPr txBox="1"/>
          <p:nvPr/>
        </p:nvSpPr>
        <p:spPr>
          <a:xfrm>
            <a:off x="640080" y="1828799"/>
            <a:ext cx="7315200" cy="731520"/>
          </a:xfrm>
          <a:prstGeom prst="rect">
            <a:avLst/>
          </a:prstGeom>
          <a:noFill/>
        </p:spPr>
        <p:txBody>
          <a:bodyPr wrap="square">
            <a:spAutoFit/>
          </a:bodyPr>
          <a:lstStyle/>
          <a:p>
            <a:r>
              <a:rPr sz="1600"/>
              <a:t>GPT-5 and the new era of work</a:t>
            </a:r>
          </a:p>
        </p:txBody>
      </p:sp>
      <p:sp>
        <p:nvSpPr>
          <p:cNvPr id="4" name="TextBox 3"/>
          <p:cNvSpPr txBox="1"/>
          <p:nvPr/>
        </p:nvSpPr>
        <p:spPr>
          <a:xfrm>
            <a:off x="640080" y="2651760"/>
            <a:ext cx="7315200" cy="3840480"/>
          </a:xfrm>
          <a:prstGeom prst="rect">
            <a:avLst/>
          </a:prstGeom>
          <a:noFill/>
        </p:spPr>
        <p:txBody>
          <a:bodyPr wrap="square">
            <a:spAutoFit/>
          </a:bodyPr>
          <a:lstStyle/>
          <a:p>
            <a:pPr/>
            <a:r>
              <a:t>GPT-5 is OpenAI’s most advanced model—transforming enterprise AI, automation, and workforce productivity in the new era of intelligent work.</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openai.com/index/gpt-5-new-era-of-work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Introducing gpt-oss</a:t>
            </a:r>
          </a:p>
        </p:txBody>
      </p:sp>
      <p:sp>
        <p:nvSpPr>
          <p:cNvPr id="3" name="TextBox 2"/>
          <p:cNvSpPr txBox="1"/>
          <p:nvPr/>
        </p:nvSpPr>
        <p:spPr>
          <a:xfrm>
            <a:off x="640080" y="1828799"/>
            <a:ext cx="7315200" cy="731520"/>
          </a:xfrm>
          <a:prstGeom prst="rect">
            <a:avLst/>
          </a:prstGeom>
          <a:noFill/>
        </p:spPr>
        <p:txBody>
          <a:bodyPr wrap="square">
            <a:spAutoFit/>
          </a:bodyPr>
          <a:lstStyle/>
          <a:p>
            <a:r>
              <a:rPr sz="1600"/>
              <a:t>Introducing gpt-oss</a:t>
            </a:r>
          </a:p>
        </p:txBody>
      </p:sp>
      <p:sp>
        <p:nvSpPr>
          <p:cNvPr id="4" name="TextBox 3"/>
          <p:cNvSpPr txBox="1"/>
          <p:nvPr/>
        </p:nvSpPr>
        <p:spPr>
          <a:xfrm>
            <a:off x="640080" y="2651760"/>
            <a:ext cx="7315200" cy="3840480"/>
          </a:xfrm>
          <a:prstGeom prst="rect">
            <a:avLst/>
          </a:prstGeom>
          <a:noFill/>
        </p:spPr>
        <p:txBody>
          <a:bodyPr wrap="square">
            <a:spAutoFit/>
          </a:bodyPr>
          <a:lstStyle/>
          <a:p>
            <a:pPr/>
            <a:r>
              <a:t>We’re releasing gpt-oss-120b and gpt-oss-20b—two state-of-the-art open-weight language models that deliver strong real-world performance at low cost. Available under the flexible Apache 2.0 license, these models outperform similarly sized open models on reasoning tasks, demonstrate strong tool use capabilities, and are optimized for efficient deployment on consumer hardware.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openai.com/index/introducing-gpt-oss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Mixi reimagines communication with ChatGPT</a:t>
            </a:r>
          </a:p>
        </p:txBody>
      </p:sp>
      <p:sp>
        <p:nvSpPr>
          <p:cNvPr id="3" name="TextBox 2"/>
          <p:cNvSpPr txBox="1"/>
          <p:nvPr/>
        </p:nvSpPr>
        <p:spPr>
          <a:xfrm>
            <a:off x="640080" y="1828799"/>
            <a:ext cx="7315200" cy="731520"/>
          </a:xfrm>
          <a:prstGeom prst="rect">
            <a:avLst/>
          </a:prstGeom>
          <a:noFill/>
        </p:spPr>
        <p:txBody>
          <a:bodyPr wrap="square">
            <a:spAutoFit/>
          </a:bodyPr>
          <a:lstStyle/>
          <a:p>
            <a:r>
              <a:rPr sz="1600"/>
              <a:t>Mixi reimagines communication with ChatGPT</a:t>
            </a:r>
          </a:p>
        </p:txBody>
      </p:sp>
      <p:sp>
        <p:nvSpPr>
          <p:cNvPr id="4" name="TextBox 3"/>
          <p:cNvSpPr txBox="1"/>
          <p:nvPr/>
        </p:nvSpPr>
        <p:spPr>
          <a:xfrm>
            <a:off x="640080" y="2651760"/>
            <a:ext cx="7315200" cy="3840480"/>
          </a:xfrm>
          <a:prstGeom prst="rect">
            <a:avLst/>
          </a:prstGeom>
          <a:noFill/>
        </p:spPr>
        <p:txBody>
          <a:bodyPr wrap="square">
            <a:spAutoFit/>
          </a:bodyPr>
          <a:lstStyle/>
          <a:p>
            <a:pPr/>
            <a:r>
              <a:t>Discover how MIXI, a leader in digital entertainment and lifestyle services in Japan, uses ChatGPT Enterprise to transform productivity, boost AI adoption across teams, and create a secure environment for innovation.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openai.com/index/mixi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2800" b="1"/>
              <a:t>How AI could speed the development of RNA vaccines and other RNA therapies</a:t>
            </a:r>
          </a:p>
        </p:txBody>
      </p:sp>
      <p:sp>
        <p:nvSpPr>
          <p:cNvPr id="3" name="TextBox 2"/>
          <p:cNvSpPr txBox="1"/>
          <p:nvPr/>
        </p:nvSpPr>
        <p:spPr>
          <a:xfrm>
            <a:off x="640080" y="1828799"/>
            <a:ext cx="7315200" cy="731520"/>
          </a:xfrm>
          <a:prstGeom prst="rect">
            <a:avLst/>
          </a:prstGeom>
          <a:noFill/>
        </p:spPr>
        <p:txBody>
          <a:bodyPr wrap="square">
            <a:spAutoFit/>
          </a:bodyPr>
          <a:lstStyle/>
          <a:p>
            <a:r>
              <a:rPr sz="1600"/>
              <a:t>How AI could speed the development of RNA vaccines and other RNA therapies</a:t>
            </a:r>
          </a:p>
        </p:txBody>
      </p:sp>
      <p:sp>
        <p:nvSpPr>
          <p:cNvPr id="4" name="TextBox 3"/>
          <p:cNvSpPr txBox="1"/>
          <p:nvPr/>
        </p:nvSpPr>
        <p:spPr>
          <a:xfrm>
            <a:off x="640080" y="2651760"/>
            <a:ext cx="7315200" cy="3840480"/>
          </a:xfrm>
          <a:prstGeom prst="rect">
            <a:avLst/>
          </a:prstGeom>
          <a:noFill/>
        </p:spPr>
        <p:txBody>
          <a:bodyPr wrap="square">
            <a:spAutoFit/>
          </a:bodyPr>
          <a:lstStyle/>
          <a:p>
            <a:pPr/>
            <a:r>
              <a:t>MIT researchers have developed a machine-learning model to design more efficient lipid nanoparticles for RNA vaccine and therapy delivery, potentially accelerating the development of treatments for diseases like obesity and diabetes. The model, called COMET, was trained on a library of 3,000 LNP formulations and successfully predicted new, more effective formulations, including those incorporating branched poly beta amino esters (PBAEs). This approach, funded by ARPA-H and other institutions, could enhance the delivery of RNA therapies and improve the shelf-life of medicines through lyophilization. The research is published in Nature Nanotechnology and aims to develop ingestible devices for oral RNA delivery.</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news.mit.edu/2025/how-ai-could-speed-development-rna-vaccines-and-other-rna-therapies-0815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