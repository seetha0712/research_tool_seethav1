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the-clock-didnt-stop-the-eu-ai-act-will-reshape-your-ai-strategy-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t.com/content/ad12a0ec-9d6d-4ee7-83b7-643415f1a37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pressarticle/106655/broadridge-invests-in-ai-platform-uptiq?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mckinsey.com/capabilities/risk-and-resilience/our-insights/how-agentic-ai-can-change-the-way-banks-fight-financial-crim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pressarticle/106642/investcloud-taps-ai-to-drive-advisor-productivity?utm_medium=rssfinextra&amp;utm_source=finextrafe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376/standard-chartered-signs-ai-deal-with-alibaba?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openai.com/index/gpt-5-new-era-of-wor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ired.com/story/poisoned-document-could-leak-secret-data-chatgp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theguardian.com/technology/2025/aug/05/openai-meta-launching-free-customisable-ai-model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technologyreview.com/2025/08/04/1120996/protocols-help-agents-navigate-lives-mcp-a2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introducing-aegis-the-guardrails-cisos-need-for-the-agentic-enterpri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earch.google/blog/mle-star-a-state-of-the-art-machine-learning-engineering-agen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blogs.nvidia.com/blog/financial-services-agentic-a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earch.google/blog/sensorlm-learning-the-language-of-wearable-sens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the-autonomous-testing-platform-vendor-landscape-q2-2025-is-ou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why-ai-isnt-the-silver-bullet-for-customer-service-y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nytimes.com/2025/07/31/well/mind/dementia-ai-companio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news.mit.edu/2025/mit-learn-offers-whole-new-front-door-institute-07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Clock Didn’t Stop: The EU AI Act Will Reshape Your AI Strategy — Now</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The Clock Didn’t Stop: The EU AI Act Will Reshape Your AI Strategy — Now</a:t>
            </a:r>
          </a:p>
        </p:txBody>
      </p:sp>
      <p:sp>
        <p:nvSpPr>
          <p:cNvPr id="4" name="TextBox 3"/>
          <p:cNvSpPr txBox="1"/>
          <p:nvPr/>
        </p:nvSpPr>
        <p:spPr>
          <a:xfrm>
            <a:off x="640080" y="1645920"/>
            <a:ext cx="7315200" cy="4114800"/>
          </a:xfrm>
          <a:prstGeom prst="rect">
            <a:avLst/>
          </a:prstGeom>
          <a:noFill/>
        </p:spPr>
        <p:txBody>
          <a:bodyPr wrap="square">
            <a:spAutoFit/>
          </a:bodyPr>
          <a:lstStyle/>
          <a:p>
            <a:pPr/>
            <a:r>
              <a:t>After rejecting lobbying efforts from the tech industry, the EU is moving forward with the next phase of the EU AI Act. Find out what this means for organizations leveraging AI in the EU and beyond.</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fund manager of the future might just be a machine</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The fund manager of the future might just be a machine</a:t>
            </a:r>
          </a:p>
        </p:txBody>
      </p:sp>
      <p:sp>
        <p:nvSpPr>
          <p:cNvPr id="4" name="TextBox 3"/>
          <p:cNvSpPr txBox="1"/>
          <p:nvPr/>
        </p:nvSpPr>
        <p:spPr>
          <a:xfrm>
            <a:off x="640080" y="1645920"/>
            <a:ext cx="7315200" cy="4114800"/>
          </a:xfrm>
          <a:prstGeom prst="rect">
            <a:avLst/>
          </a:prstGeom>
          <a:noFill/>
        </p:spPr>
        <p:txBody>
          <a:bodyPr wrap="square">
            <a:spAutoFit/>
          </a:bodyPr>
          <a:lstStyle/>
          <a:p>
            <a:pPr/>
            <a:r>
              <a:t>What if AI doesn’t just enhance active investing, but renders much of it obsolete?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Broadridge invests in AI platform Uptiq</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Broadridge invests in AI platform Uptiq</a:t>
            </a:r>
          </a:p>
        </p:txBody>
      </p:sp>
      <p:sp>
        <p:nvSpPr>
          <p:cNvPr id="4" name="TextBox 3"/>
          <p:cNvSpPr txBox="1"/>
          <p:nvPr/>
        </p:nvSpPr>
        <p:spPr>
          <a:xfrm>
            <a:off x="640080" y="1645920"/>
            <a:ext cx="7315200" cy="4114800"/>
          </a:xfrm>
          <a:prstGeom prst="rect">
            <a:avLst/>
          </a:prstGeom>
          <a:noFill/>
        </p:spPr>
        <p:txBody>
          <a:bodyPr wrap="square">
            <a:spAutoFit/>
          </a:bodyPr>
          <a:lstStyle/>
          <a:p>
            <a:pPr/>
            <a:r>
              <a:t>Broadridge Financial Solutions, Inc. (NYSE: BR), a global Fintech leader, has announced a new strategic partnership and minority investment in Uptiq, an AI platform for financial services.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EToro touts AI for social investing</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EToro touts AI for social investing</a:t>
            </a:r>
          </a:p>
        </p:txBody>
      </p:sp>
      <p:sp>
        <p:nvSpPr>
          <p:cNvPr id="4" name="TextBox 3"/>
          <p:cNvSpPr txBox="1"/>
          <p:nvPr/>
        </p:nvSpPr>
        <p:spPr>
          <a:xfrm>
            <a:off x="640080" y="1645920"/>
            <a:ext cx="7315200" cy="4114800"/>
          </a:xfrm>
          <a:prstGeom prst="rect">
            <a:avLst/>
          </a:prstGeom>
          <a:noFill/>
        </p:spPr>
        <p:txBody>
          <a:bodyPr wrap="square">
            <a:spAutoFit/>
          </a:bodyPr>
          <a:lstStyle/>
          <a:p>
            <a:pPr/>
            <a:r>
              <a:t>eToro Group Ltd. (“eToro”, or the “Company”) (NASDAQ: ETOR), the trading and investing platform, announced today how the company is harnessing artificial intelligence to redefine social investing.</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agentic AI can change the way banks fight financial crime</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How agentic AI can change the way banks fight financial crime</a:t>
            </a:r>
          </a:p>
        </p:txBody>
      </p:sp>
      <p:sp>
        <p:nvSpPr>
          <p:cNvPr id="4" name="TextBox 3"/>
          <p:cNvSpPr txBox="1"/>
          <p:nvPr/>
        </p:nvSpPr>
        <p:spPr>
          <a:xfrm>
            <a:off x="640080" y="1645920"/>
            <a:ext cx="7315200" cy="4114800"/>
          </a:xfrm>
          <a:prstGeom prst="rect">
            <a:avLst/>
          </a:prstGeom>
          <a:noFill/>
        </p:spPr>
        <p:txBody>
          <a:bodyPr wrap="square">
            <a:spAutoFit/>
          </a:bodyPr>
          <a:lstStyle/>
          <a:p>
            <a:pPr/>
            <a:r>
              <a:t>Financial institutions are allocating significant resources to fighting financial crime, but they are generally making little progress. AI-based solutions may be an accelerator.</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InvestCloud taps AI to drive advisor productivity</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InvestCloud taps AI to drive advisor productivity</a:t>
            </a:r>
          </a:p>
        </p:txBody>
      </p:sp>
      <p:sp>
        <p:nvSpPr>
          <p:cNvPr id="4" name="TextBox 3"/>
          <p:cNvSpPr txBox="1"/>
          <p:nvPr/>
        </p:nvSpPr>
        <p:spPr>
          <a:xfrm>
            <a:off x="640080" y="1645920"/>
            <a:ext cx="7315200" cy="4114800"/>
          </a:xfrm>
          <a:prstGeom prst="rect">
            <a:avLst/>
          </a:prstGeom>
          <a:noFill/>
        </p:spPr>
        <p:txBody>
          <a:bodyPr wrap="square">
            <a:spAutoFit/>
          </a:bodyPr>
          <a:lstStyle/>
          <a:p>
            <a:pPr/>
            <a:r>
              <a:t>InvestCloud, a global leader in wealth technology, today announced the first of a new generation of AI-enabled solutions to help advisors increase productivity and deliver greater value to clients.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Maybank signs RM1bn digital transformation deal with Microsoft</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Maybank signs RM1bn digital transformation deal with Microsoft</a:t>
            </a:r>
          </a:p>
        </p:txBody>
      </p:sp>
      <p:sp>
        <p:nvSpPr>
          <p:cNvPr id="4" name="TextBox 3"/>
          <p:cNvSpPr txBox="1"/>
          <p:nvPr/>
        </p:nvSpPr>
        <p:spPr>
          <a:xfrm>
            <a:off x="640080" y="1645920"/>
            <a:ext cx="7315200" cy="4114800"/>
          </a:xfrm>
          <a:prstGeom prst="rect">
            <a:avLst/>
          </a:prstGeom>
          <a:noFill/>
        </p:spPr>
        <p:txBody>
          <a:bodyPr wrap="square">
            <a:spAutoFit/>
          </a:bodyPr>
          <a:lstStyle/>
          <a:p>
            <a:pPr/>
            <a:r>
              <a:t>Malaysia's largest financial institution Maybank, has agreed a deal with Microsoft that will see the tech firm spearhead the bank's digital transformation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Wells Fargo enlists Google Cloud for agentic AI play</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Wells Fargo enlists Google Cloud for agentic AI play</a:t>
            </a:r>
          </a:p>
        </p:txBody>
      </p:sp>
      <p:sp>
        <p:nvSpPr>
          <p:cNvPr id="4" name="TextBox 3"/>
          <p:cNvSpPr txBox="1"/>
          <p:nvPr/>
        </p:nvSpPr>
        <p:spPr>
          <a:xfrm>
            <a:off x="640080" y="1645920"/>
            <a:ext cx="7315200" cy="4114800"/>
          </a:xfrm>
          <a:prstGeom prst="rect">
            <a:avLst/>
          </a:prstGeom>
          <a:noFill/>
        </p:spPr>
        <p:txBody>
          <a:bodyPr wrap="square">
            <a:spAutoFit/>
          </a:bodyPr>
          <a:lstStyle/>
          <a:p>
            <a:pPr/>
            <a:r>
              <a:t>Wells Fargo is expanding its relationship with Google Cloud to roll out agentic AI across its operations.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NatWest and Google to boost UK startups with AI tools and training</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NatWest and Google to boost UK startups with AI tools and training</a:t>
            </a:r>
          </a:p>
        </p:txBody>
      </p:sp>
      <p:sp>
        <p:nvSpPr>
          <p:cNvPr id="4" name="TextBox 3"/>
          <p:cNvSpPr txBox="1"/>
          <p:nvPr/>
        </p:nvSpPr>
        <p:spPr>
          <a:xfrm>
            <a:off x="640080" y="1645920"/>
            <a:ext cx="7315200" cy="4114800"/>
          </a:xfrm>
          <a:prstGeom prst="rect">
            <a:avLst/>
          </a:prstGeom>
          <a:noFill/>
        </p:spPr>
        <p:txBody>
          <a:bodyPr wrap="square">
            <a:spAutoFit/>
          </a:bodyPr>
          <a:lstStyle/>
          <a:p>
            <a:pPr/>
            <a:r>
              <a:t>NatWest is working with Google Cloud to support entrepreneurs on the UK lender's business Accelerator with access to AI tools, cloud technology, and expert training.</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Chartered signs AI deal with Alibaba</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Standard Chartered signs AI deal with Alibaba</a:t>
            </a:r>
          </a:p>
        </p:txBody>
      </p:sp>
      <p:sp>
        <p:nvSpPr>
          <p:cNvPr id="4" name="TextBox 3"/>
          <p:cNvSpPr txBox="1"/>
          <p:nvPr/>
        </p:nvSpPr>
        <p:spPr>
          <a:xfrm>
            <a:off x="640080" y="1645920"/>
            <a:ext cx="7315200" cy="4114800"/>
          </a:xfrm>
          <a:prstGeom prst="rect">
            <a:avLst/>
          </a:prstGeom>
          <a:noFill/>
        </p:spPr>
        <p:txBody>
          <a:bodyPr wrap="square">
            <a:spAutoFit/>
          </a:bodyPr>
          <a:lstStyle/>
          <a:p>
            <a:pPr/>
            <a:r>
              <a:t>Standard Chartered has signed an AI and cloud deal with Albibaba Group.</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GPT-5 and the new era of work</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GPT-5 and the new era of work</a:t>
            </a:r>
          </a:p>
        </p:txBody>
      </p:sp>
      <p:sp>
        <p:nvSpPr>
          <p:cNvPr id="4" name="TextBox 3"/>
          <p:cNvSpPr txBox="1"/>
          <p:nvPr/>
        </p:nvSpPr>
        <p:spPr>
          <a:xfrm>
            <a:off x="640080" y="1645920"/>
            <a:ext cx="7315200" cy="411480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Single Poisoned Document Could Leak ‘Secret’ Data Via ChatGPT</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A Single Poisoned Document Could Leak ‘Secret’ Data Via ChatGPT</a:t>
            </a:r>
          </a:p>
        </p:txBody>
      </p:sp>
      <p:sp>
        <p:nvSpPr>
          <p:cNvPr id="4" name="TextBox 3"/>
          <p:cNvSpPr txBox="1"/>
          <p:nvPr/>
        </p:nvSpPr>
        <p:spPr>
          <a:xfrm>
            <a:off x="640080" y="1645920"/>
            <a:ext cx="7315200" cy="4114800"/>
          </a:xfrm>
          <a:prstGeom prst="rect">
            <a:avLst/>
          </a:prstGeom>
          <a:noFill/>
        </p:spPr>
        <p:txBody>
          <a:bodyPr wrap="square">
            <a:spAutoFit/>
          </a:bodyPr>
          <a:lstStyle/>
          <a:p>
            <a:pPr/>
            <a:r>
              <a:t>Security researchers found a weakness in OpenAI’s Connectors, which let you hook up ChatGPT to other services, that allowed them to extract data from a Google Drive without any user interaction.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OpenAI takes on Meta and DeepSeek with free and customisable AI models</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OpenAI takes on Meta and DeepSeek with free and customisable AI models</a:t>
            </a:r>
          </a:p>
        </p:txBody>
      </p:sp>
      <p:sp>
        <p:nvSpPr>
          <p:cNvPr id="4" name="TextBox 3"/>
          <p:cNvSpPr txBox="1"/>
          <p:nvPr/>
        </p:nvSpPr>
        <p:spPr>
          <a:xfrm>
            <a:off x="640080" y="1645920"/>
            <a:ext cx="7315200" cy="4114800"/>
          </a:xfrm>
          <a:prstGeom prst="rect">
            <a:avLst/>
          </a:prstGeom>
          <a:noFill/>
        </p:spPr>
        <p:txBody>
          <a:bodyPr wrap="square">
            <a:spAutoFit/>
          </a:bodyPr>
          <a:lstStyle/>
          <a:p>
            <a:pPr/>
            <a:r>
              <a:t>OpenAI is entering the competitive field of freely available artificial intelligence models by launching two "open weight" large language models that developers can download and customize. This move positions OpenAI against competitors like Mark Zuckerberg's Meta and Chinese company DeepSeek, who are also offering similar AI tools. The initiative aims to provide tools that can be widely beneficial, aligning with OpenAI's mission to make advanced AI accessible to a broader audience.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These protocols will help AI agents navigate our messy lives</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These protocols will help AI agents navigate our messy lives</a:t>
            </a:r>
          </a:p>
        </p:txBody>
      </p:sp>
      <p:sp>
        <p:nvSpPr>
          <p:cNvPr id="4" name="TextBox 3"/>
          <p:cNvSpPr txBox="1"/>
          <p:nvPr/>
        </p:nvSpPr>
        <p:spPr>
          <a:xfrm>
            <a:off x="640080" y="1645920"/>
            <a:ext cx="7315200" cy="4114800"/>
          </a:xfrm>
          <a:prstGeom prst="rect">
            <a:avLst/>
          </a:prstGeom>
          <a:noFill/>
        </p:spPr>
        <p:txBody>
          <a:bodyPr wrap="square">
            <a:spAutoFit/>
          </a:bodyPr>
          <a:lstStyle/>
          <a:p>
            <a:pPr/>
            <a:r>
              <a:t>A growing number of companies are launching AI agents that can do things on your behalf—actions like sending an email, making a document, or editing a database. Initial reviews for these agents have been mixed at best, though, because they struggle to interact with all the different components of our digital lives. Part of the…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Introducing AEGIS — The Guardrails That CISOs Need For The Agentic Enterprise</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Introducing AEGIS — The Guardrails That CISOs Need For The Agentic Enterprise</a:t>
            </a:r>
          </a:p>
        </p:txBody>
      </p:sp>
      <p:sp>
        <p:nvSpPr>
          <p:cNvPr id="4" name="TextBox 3"/>
          <p:cNvSpPr txBox="1"/>
          <p:nvPr/>
        </p:nvSpPr>
        <p:spPr>
          <a:xfrm>
            <a:off x="640080" y="1645920"/>
            <a:ext cx="7315200" cy="4114800"/>
          </a:xfrm>
          <a:prstGeom prst="rect">
            <a:avLst/>
          </a:prstGeom>
          <a:noFill/>
        </p:spPr>
        <p:txBody>
          <a:bodyPr wrap="square">
            <a:spAutoFit/>
          </a:bodyPr>
          <a:lstStyle/>
          <a:p>
            <a:pPr/>
            <a:r>
              <a:t>AI agents aren’t coming — they’re already here. And they’re not waiting for your security architecture to catch up. Learn how Forrester's new AEGIS framework can help CISOs secure, govern, and manage AI agents and agentic infrastructure.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MLE-STAR: A state-of-the-art machine learning engineering agent</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MLE-STAR: A state-of-the-art machine learning engineering agent</a:t>
            </a:r>
          </a:p>
        </p:txBody>
      </p:sp>
      <p:sp>
        <p:nvSpPr>
          <p:cNvPr id="4" name="TextBox 3"/>
          <p:cNvSpPr txBox="1"/>
          <p:nvPr/>
        </p:nvSpPr>
        <p:spPr>
          <a:xfrm>
            <a:off x="640080" y="1645920"/>
            <a:ext cx="7315200" cy="4114800"/>
          </a:xfrm>
          <a:prstGeom prst="rect">
            <a:avLst/>
          </a:prstGeom>
          <a:noFill/>
        </p:spPr>
        <p:txBody>
          <a:bodyPr wrap="square">
            <a:spAutoFit/>
          </a:bodyPr>
          <a:lstStyle/>
          <a:p>
            <a:pPr/>
            <a:r>
              <a:t>MLE-STAR: A state-of-the-art machine learning engineering agent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On: How Financial Services Companies Use Agentic AI to Enhance Productivity, Efficiency and Security</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AI On: How Financial Services Companies Use Agentic AI to Enhance Productivity, Efficiency and Security</a:t>
            </a:r>
          </a:p>
        </p:txBody>
      </p:sp>
      <p:sp>
        <p:nvSpPr>
          <p:cNvPr id="4" name="TextBox 3"/>
          <p:cNvSpPr txBox="1"/>
          <p:nvPr/>
        </p:nvSpPr>
        <p:spPr>
          <a:xfrm>
            <a:off x="640080" y="1645920"/>
            <a:ext cx="7315200" cy="4114800"/>
          </a:xfrm>
          <a:prstGeom prst="rect">
            <a:avLst/>
          </a:prstGeom>
          <a:noFill/>
        </p:spPr>
        <p:txBody>
          <a:bodyPr wrap="square">
            <a:spAutoFit/>
          </a:bodyPr>
          <a:lstStyle/>
          <a:p>
            <a:pPr/>
            <a:r>
              <a:t>With advancements in agentic AI, intelligent AI systems are maturing to now facilitate autonomous decision-making across industries, including financial services.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SensorLM: Learning the language of wearable sensors</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SensorLM: Learning the language of wearable sensors</a:t>
            </a:r>
          </a:p>
        </p:txBody>
      </p:sp>
      <p:sp>
        <p:nvSpPr>
          <p:cNvPr id="4" name="TextBox 3"/>
          <p:cNvSpPr txBox="1"/>
          <p:nvPr/>
        </p:nvSpPr>
        <p:spPr>
          <a:xfrm>
            <a:off x="640080" y="1645920"/>
            <a:ext cx="7315200" cy="4114800"/>
          </a:xfrm>
          <a:prstGeom prst="rect">
            <a:avLst/>
          </a:prstGeom>
          <a:noFill/>
        </p:spPr>
        <p:txBody>
          <a:bodyPr wrap="square">
            <a:spAutoFit/>
          </a:bodyPr>
          <a:lstStyle/>
          <a:p>
            <a:pPr/>
            <a:r>
              <a:t>SensorLM: Learning the language of wearable sensors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Autonomous Testing Platforms Landscape, Q3 2025, Is Out!</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The Autonomous Testing Platforms Landscape, Q3 2025, Is Out!</a:t>
            </a:r>
          </a:p>
        </p:txBody>
      </p:sp>
      <p:sp>
        <p:nvSpPr>
          <p:cNvPr id="4" name="TextBox 3"/>
          <p:cNvSpPr txBox="1"/>
          <p:nvPr/>
        </p:nvSpPr>
        <p:spPr>
          <a:xfrm>
            <a:off x="640080" y="1645920"/>
            <a:ext cx="7315200" cy="4114800"/>
          </a:xfrm>
          <a:prstGeom prst="rect">
            <a:avLst/>
          </a:prstGeom>
          <a:noFill/>
        </p:spPr>
        <p:txBody>
          <a:bodyPr wrap="square">
            <a:spAutoFit/>
          </a:bodyPr>
          <a:lstStyle/>
          <a:p>
            <a:pPr/>
            <a:r>
              <a:t>As software development accelerates through AI and generative technologies developer teams need to rethink how they approach testing. Learn some of the benefits of autonomous testing platforms in this preview of a new market landscape report.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AI Isn’t The Silver Bullet For Customer Service — Yet</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Why AI Isn’t The Silver Bullet For Customer Service — Yet</a:t>
            </a:r>
          </a:p>
        </p:txBody>
      </p:sp>
      <p:sp>
        <p:nvSpPr>
          <p:cNvPr id="4" name="TextBox 3"/>
          <p:cNvSpPr txBox="1"/>
          <p:nvPr/>
        </p:nvSpPr>
        <p:spPr>
          <a:xfrm>
            <a:off x="640080" y="1645920"/>
            <a:ext cx="7315200" cy="4114800"/>
          </a:xfrm>
          <a:prstGeom prst="rect">
            <a:avLst/>
          </a:prstGeom>
          <a:noFill/>
        </p:spPr>
        <p:txBody>
          <a:bodyPr wrap="square">
            <a:spAutoFit/>
          </a:bodyPr>
          <a:lstStyle/>
          <a:p>
            <a:pPr/>
            <a:r>
              <a:t>AI is being marketed as a technology that will transform customer service for the better, but results are lacking. Here’s why.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Could Dementia Patients Benefit from an A.I. Companion?</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Could Dementia Patients Benefit from an A.I. Companion?</a:t>
            </a:r>
          </a:p>
        </p:txBody>
      </p:sp>
      <p:sp>
        <p:nvSpPr>
          <p:cNvPr id="4" name="TextBox 3"/>
          <p:cNvSpPr txBox="1"/>
          <p:nvPr/>
        </p:nvSpPr>
        <p:spPr>
          <a:xfrm>
            <a:off x="640080" y="1645920"/>
            <a:ext cx="7315200" cy="4114800"/>
          </a:xfrm>
          <a:prstGeom prst="rect">
            <a:avLst/>
          </a:prstGeom>
          <a:noFill/>
        </p:spPr>
        <p:txBody>
          <a:bodyPr wrap="square">
            <a:spAutoFit/>
          </a:bodyPr>
          <a:lstStyle/>
          <a:p>
            <a:pPr/>
            <a:r>
              <a:t>New products are being developed in an attempt to reduce loneliness and bolster cognition.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Learn offers “a whole new front door to the Institute”</a:t>
            </a:r>
          </a:p>
        </p:txBody>
      </p:sp>
      <p:sp>
        <p:nvSpPr>
          <p:cNvPr id="3" name="TextBox 2"/>
          <p:cNvSpPr txBox="1"/>
          <p:nvPr/>
        </p:nvSpPr>
        <p:spPr>
          <a:xfrm>
            <a:off x="640080" y="1097280"/>
            <a:ext cx="7315200" cy="457200"/>
          </a:xfrm>
          <a:prstGeom prst="rect">
            <a:avLst/>
          </a:prstGeom>
          <a:noFill/>
        </p:spPr>
        <p:txBody>
          <a:bodyPr wrap="none">
            <a:spAutoFit/>
          </a:bodyPr>
          <a:lstStyle/>
          <a:p>
            <a:pPr>
              <a:defRPr sz="1400"/>
            </a:pPr>
            <a:r>
              <a:t>MIT Learn offers “a whole new front door to the Institute”</a:t>
            </a:r>
          </a:p>
        </p:txBody>
      </p:sp>
      <p:sp>
        <p:nvSpPr>
          <p:cNvPr id="4" name="TextBox 3"/>
          <p:cNvSpPr txBox="1"/>
          <p:nvPr/>
        </p:nvSpPr>
        <p:spPr>
          <a:xfrm>
            <a:off x="640080" y="1645920"/>
            <a:ext cx="7315200" cy="4114800"/>
          </a:xfrm>
          <a:prstGeom prst="rect">
            <a:avLst/>
          </a:prstGeom>
          <a:noFill/>
        </p:spPr>
        <p:txBody>
          <a:bodyPr wrap="square">
            <a:spAutoFit/>
          </a:bodyPr>
          <a:lstStyle/>
          <a:p>
            <a:pPr/>
            <a:r>
              <a:t>The AI-enabled platform serves as a hub for MIT’s lifelong learning opportunities.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