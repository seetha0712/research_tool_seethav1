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the-clock-didnt-stop-the-eu-ai-act-will-reshape-your-ai-strategy-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t.com/content/ad12a0ec-9d6d-4ee7-83b7-643415f1a37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pressarticle/106655/broadridge-invests-in-ai-platform-uptiq?utm_medium=rssfinextra&amp;utm_source=finextrafee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pressarticle/106653/etoro-touts-ai-for-social-investing?utm_medium=rssfinextra&amp;utm_source=finextrafee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mckinsey.com/capabilities/risk-and-resilience/our-insights/how-agentic-ai-can-change-the-way-banks-fight-financial-crim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pressarticle/106642/investcloud-taps-ai-to-drive-advisor-productivity?utm_medium=rssfinextra&amp;utm_source=finextrafe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410/maybank-signs-rm1bn-digital-transformation-deal-with-microsoft?utm_medium=rssfinextra&amp;utm_source=finextrafee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405/wells-fargo-enlists-google-cloud-for-agentic-ai-play?utm_medium=rssfinextra&amp;utm_source=finextrafee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397/natwest-and-google-to-boost-uk-startups-with-ai-tools-and-training?utm_medium=rssfinextra&amp;utm_source=finextrafee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376/standard-chartered-signs-ai-deal-with-alibaba?utm_medium=rssfinextra&amp;utm_source=finextrafee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openai.com/index/gpt-5-new-era-of-wor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wired.com/story/poisoned-document-could-leak-secret-data-chatgp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theguardian.com/technology/2025/aug/05/openai-meta-launching-free-customisable-ai-model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technologyreview.com/2025/08/04/1120996/protocols-help-agents-navigate-lives-mcp-a2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introducing-aegis-the-guardrails-cisos-need-for-the-agentic-enterpris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esearch.google/blog/mle-star-a-state-of-the-art-machine-learning-engineering-agent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blogs.nvidia.com/blog/financial-services-agentic-ai/"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esearch.google/blog/sensorlm-learning-the-language-of-wearable-sensor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the-autonomous-testing-platform-vendor-landscape-q2-2025-is-ou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why-ai-isnt-the-silver-bullet-for-customer-service-y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nytimes.com/2025/07/31/well/mind/dementia-ai-companions.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news.mit.edu/2025/mit-learn-offers-whole-new-front-door-institute-072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22</a:t>
            </a:r>
          </a:p>
          <a:p>
            <a:pPr lvl="1"/>
            <a:r>
              <a:t>Uncategorized: 0</a:t>
            </a:r>
          </a:p>
          <a:p>
            <a:pPr lvl="1"/>
            <a:r>
              <a:t>AI &amp; GenAI Trends: 1</a:t>
            </a:r>
          </a:p>
          <a:p>
            <a:pPr lvl="1"/>
            <a:r>
              <a:t>AI in Financial Institutions: 9</a:t>
            </a:r>
          </a:p>
          <a:p>
            <a:pPr lvl="1"/>
            <a:r>
              <a:t>Leading AI Innovators: 3</a:t>
            </a:r>
          </a:p>
          <a:p>
            <a:pPr lvl="1"/>
            <a:r>
              <a:t>Agentic AI: 4</a:t>
            </a:r>
          </a:p>
          <a:p>
            <a:pPr lvl="1"/>
            <a:r>
              <a:t>Broader AI Topics: 1</a:t>
            </a:r>
          </a:p>
          <a:p>
            <a:pPr lvl="1"/>
            <a:r>
              <a:t>Tech Corner: 1</a:t>
            </a:r>
          </a:p>
          <a:p>
            <a:pPr lvl="1"/>
            <a:r>
              <a:t>AI Beyond Finance: 3</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The Clock Didn’t Stop: The EU AI Act Will Reshape Your AI Strategy — Now</a:t>
            </a:r>
          </a:p>
        </p:txBody>
      </p:sp>
      <p:sp>
        <p:nvSpPr>
          <p:cNvPr id="5" name="TextBox 4"/>
          <p:cNvSpPr txBox="1"/>
          <p:nvPr/>
        </p:nvSpPr>
        <p:spPr>
          <a:xfrm>
            <a:off x="640080" y="1828799"/>
            <a:ext cx="7315200" cy="731520"/>
          </a:xfrm>
          <a:prstGeom prst="rect">
            <a:avLst/>
          </a:prstGeom>
          <a:noFill/>
        </p:spPr>
        <p:txBody>
          <a:bodyPr wrap="square">
            <a:spAutoFit/>
          </a:bodyPr>
          <a:lstStyle/>
          <a:p>
            <a:r>
              <a:rPr sz="1600"/>
              <a:t>The Clock Didn’t Stop: The EU AI Act Will Reshape Your AI Strategy — Now</a:t>
            </a:r>
          </a:p>
        </p:txBody>
      </p:sp>
      <p:sp>
        <p:nvSpPr>
          <p:cNvPr id="6" name="TextBox 5"/>
          <p:cNvSpPr txBox="1"/>
          <p:nvPr/>
        </p:nvSpPr>
        <p:spPr>
          <a:xfrm>
            <a:off x="640080" y="2651760"/>
            <a:ext cx="7315200" cy="3840480"/>
          </a:xfrm>
          <a:prstGeom prst="rect">
            <a:avLst/>
          </a:prstGeom>
          <a:noFill/>
        </p:spPr>
        <p:txBody>
          <a:bodyPr wrap="square">
            <a:spAutoFit/>
          </a:bodyPr>
          <a:lstStyle/>
          <a:p>
            <a:pPr/>
            <a:r>
              <a:t>The EU AI Act is advancing without delay, impacting companies operating AI systems in the EU or using AI-generated insights there, particularly affecting general-purpose AI (GPAI) providers. The EU has released guidelines, a voluntary code of practice, and a mandatory template for transparency of training data to help companies align with the upcoming requirements. Major AI companies like OpenAI, Mistral, and Anthropic have already adopted the code of practice, indicating industry support for harmonized AI governance. The Act, as the only binding global framework for trustworthy AI, is set to influence AI governance, risk management, and compliance worldwide.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forrester.com/blogs/the-clock-didnt-stop-the-eu-ai-act-will-reshape-your-ai-strategy-now/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The fund manager of the future might just be a machine</a:t>
            </a:r>
          </a:p>
        </p:txBody>
      </p:sp>
      <p:sp>
        <p:nvSpPr>
          <p:cNvPr id="5" name="TextBox 4"/>
          <p:cNvSpPr txBox="1"/>
          <p:nvPr/>
        </p:nvSpPr>
        <p:spPr>
          <a:xfrm>
            <a:off x="640080" y="1828799"/>
            <a:ext cx="7315200" cy="731520"/>
          </a:xfrm>
          <a:prstGeom prst="rect">
            <a:avLst/>
          </a:prstGeom>
          <a:noFill/>
        </p:spPr>
        <p:txBody>
          <a:bodyPr wrap="square">
            <a:spAutoFit/>
          </a:bodyPr>
          <a:lstStyle/>
          <a:p>
            <a:r>
              <a:rPr sz="1600"/>
              <a:t>The fund manager of the future might just be a machine</a:t>
            </a:r>
          </a:p>
        </p:txBody>
      </p:sp>
      <p:sp>
        <p:nvSpPr>
          <p:cNvPr id="6" name="TextBox 5"/>
          <p:cNvSpPr txBox="1"/>
          <p:nvPr/>
        </p:nvSpPr>
        <p:spPr>
          <a:xfrm>
            <a:off x="640080" y="2651760"/>
            <a:ext cx="7315200" cy="3840480"/>
          </a:xfrm>
          <a:prstGeom prst="rect">
            <a:avLst/>
          </a:prstGeom>
          <a:noFill/>
        </p:spPr>
        <p:txBody>
          <a:bodyPr wrap="square">
            <a:spAutoFit/>
          </a:bodyPr>
          <a:lstStyle/>
          <a:p>
            <a:pPr/>
            <a:r>
              <a:t>The article discusses the potential for machines to replace fund managers in the future, highlighting the increasing role of technology in financial management. It emphasizes the benefits of digital access to quality journalism, offering various subscription plans for individuals and organizations to stay informed with expert analysis and insights. The Financial Times provides comprehensive digital access, including exclusive features and content, with options to pay annually for savings.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ft.com/content/ad12a0ec-9d6d-4ee7-83b7-643415f1a373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600" b="1"/>
              <a:t>Broadridge invests in AI platform Uptiq</a:t>
            </a:r>
          </a:p>
        </p:txBody>
      </p:sp>
      <p:sp>
        <p:nvSpPr>
          <p:cNvPr id="5" name="TextBox 4"/>
          <p:cNvSpPr txBox="1"/>
          <p:nvPr/>
        </p:nvSpPr>
        <p:spPr>
          <a:xfrm>
            <a:off x="640080" y="1828799"/>
            <a:ext cx="7315200" cy="731520"/>
          </a:xfrm>
          <a:prstGeom prst="rect">
            <a:avLst/>
          </a:prstGeom>
          <a:noFill/>
        </p:spPr>
        <p:txBody>
          <a:bodyPr wrap="square">
            <a:spAutoFit/>
          </a:bodyPr>
          <a:lstStyle/>
          <a:p>
            <a:r>
              <a:rPr sz="1600"/>
              <a:t>Broadridge invests in AI platform Uptiq</a:t>
            </a:r>
          </a:p>
        </p:txBody>
      </p:sp>
      <p:sp>
        <p:nvSpPr>
          <p:cNvPr id="6" name="TextBox 5"/>
          <p:cNvSpPr txBox="1"/>
          <p:nvPr/>
        </p:nvSpPr>
        <p:spPr>
          <a:xfrm>
            <a:off x="640080" y="2651760"/>
            <a:ext cx="7315200" cy="3840480"/>
          </a:xfrm>
          <a:prstGeom prst="rect">
            <a:avLst/>
          </a:prstGeom>
          <a:noFill/>
        </p:spPr>
        <p:txBody>
          <a:bodyPr wrap="square">
            <a:spAutoFit/>
          </a:bodyPr>
          <a:lstStyle/>
          <a:p>
            <a:pPr/>
            <a:r>
              <a:t>Broadridge Financial Solutions, Inc. has announced a strategic partnership and minority investment in Uptiq, an AI platform for financial services, to integrate Uptiq’s technology into Broadridge’s Wealth Lending Network (WLN). This integration provides financial advisors and banks with AI applications that automate securities-based lending workflows, enhance client outcomes, and improve compliance. The partnership aims to modernize wealth management by streamlining access to securities-based lines of credit, allowing financial advisors to source and compare loan options more efficiently. Broadridge’s investment in Uptiq supports the growth of AI-driven solutions in wealth lending, helping financial institutions adapt and improve their services.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finextra.com/pressarticle/106655/broadridge-invests-in-ai-platform-uptiq?utm_medium=rssfinextra&amp;utm_source=finextrafeed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600" b="1"/>
              <a:t>EToro touts AI for social investing</a:t>
            </a:r>
          </a:p>
        </p:txBody>
      </p:sp>
      <p:sp>
        <p:nvSpPr>
          <p:cNvPr id="5" name="TextBox 4"/>
          <p:cNvSpPr txBox="1"/>
          <p:nvPr/>
        </p:nvSpPr>
        <p:spPr>
          <a:xfrm>
            <a:off x="640080" y="1828799"/>
            <a:ext cx="7315200" cy="731520"/>
          </a:xfrm>
          <a:prstGeom prst="rect">
            <a:avLst/>
          </a:prstGeom>
          <a:noFill/>
        </p:spPr>
        <p:txBody>
          <a:bodyPr wrap="square">
            <a:spAutoFit/>
          </a:bodyPr>
          <a:lstStyle/>
          <a:p>
            <a:r>
              <a:rPr sz="1600"/>
              <a:t>EToro touts AI for social investing</a:t>
            </a:r>
          </a:p>
        </p:txBody>
      </p:sp>
      <p:sp>
        <p:nvSpPr>
          <p:cNvPr id="6" name="TextBox 5"/>
          <p:cNvSpPr txBox="1"/>
          <p:nvPr/>
        </p:nvSpPr>
        <p:spPr>
          <a:xfrm>
            <a:off x="640080" y="2651760"/>
            <a:ext cx="7315200" cy="3840480"/>
          </a:xfrm>
          <a:prstGeom prst="rect">
            <a:avLst/>
          </a:prstGeom>
          <a:noFill/>
        </p:spPr>
        <p:txBody>
          <a:bodyPr wrap="square">
            <a:spAutoFit/>
          </a:bodyPr>
          <a:lstStyle/>
          <a:p>
            <a:pPr/>
            <a:r>
              <a:t>eToro Group Ltd. announced the launch of AI tools to enhance social investing, creating a community-built marketplace using their new public API. These tools, initially available to eToro's Popular Investors, include capabilities for developing trading algorithms, automating trade execution, and personalizing portfolio optimization. eToro also introduced Tori, an AI companion to guide users on the platform, and launched seven Alpha Portfolios offering AI-powered strategies. The company acquired BullAware to integrate its features into the eToro platform, further demonstrating their commitment to AI-driven innovation.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finextra.com/pressarticle/106653/etoro-touts-ai-for-social-investing?utm_medium=rssfinextra&amp;utm_source=finextrafeed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How agentic AI can change the way banks fight financial crime</a:t>
            </a:r>
          </a:p>
        </p:txBody>
      </p:sp>
      <p:sp>
        <p:nvSpPr>
          <p:cNvPr id="5" name="TextBox 4"/>
          <p:cNvSpPr txBox="1"/>
          <p:nvPr/>
        </p:nvSpPr>
        <p:spPr>
          <a:xfrm>
            <a:off x="640080" y="1828799"/>
            <a:ext cx="7315200" cy="731520"/>
          </a:xfrm>
          <a:prstGeom prst="rect">
            <a:avLst/>
          </a:prstGeom>
          <a:noFill/>
        </p:spPr>
        <p:txBody>
          <a:bodyPr wrap="square">
            <a:spAutoFit/>
          </a:bodyPr>
          <a:lstStyle/>
          <a:p>
            <a:r>
              <a:rPr sz="1600"/>
              <a:t>How agentic AI can change the way banks fight financial crime</a:t>
            </a:r>
          </a:p>
        </p:txBody>
      </p:sp>
      <p:sp>
        <p:nvSpPr>
          <p:cNvPr id="6" name="TextBox 5"/>
          <p:cNvSpPr txBox="1"/>
          <p:nvPr/>
        </p:nvSpPr>
        <p:spPr>
          <a:xfrm>
            <a:off x="640080" y="2651760"/>
            <a:ext cx="7315200" cy="3840480"/>
          </a:xfrm>
          <a:prstGeom prst="rect">
            <a:avLst/>
          </a:prstGeom>
          <a:noFill/>
        </p:spPr>
        <p:txBody>
          <a:bodyPr wrap="square">
            <a:spAutoFit/>
          </a:bodyPr>
          <a:lstStyle/>
          <a:p>
            <a:pPr/>
            <a:r>
              <a:t>Despite banks increasing their spending on know-your-customer (KYC) and anti-money-laundering (AML) activities by up to 10% annually from 2015 to 2022, they only detect about 2% of global financial crime flows. Agentic AI, an advanced form of AI technology, offers a solution by automating and enhancing productivity throughout the client lifecycle. While analytical and generative AI improve compliance efficiency, agentic AI can significantly boost productivity by 200 to 2,000% by autonomously handling tasks with minimal human oversight. Successful implementation of AI in KYC/AML requires a comprehensive approach, including process reengineering, a modular technology structure, and a dedicated risk management framework.</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mckinsey.com/capabilities/risk-and-resilience/our-insights/how-agentic-ai-can-change-the-way-banks-fight-financial-crime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InvestCloud taps AI to drive advisor productivity</a:t>
            </a:r>
          </a:p>
        </p:txBody>
      </p:sp>
      <p:sp>
        <p:nvSpPr>
          <p:cNvPr id="5" name="TextBox 4"/>
          <p:cNvSpPr txBox="1"/>
          <p:nvPr/>
        </p:nvSpPr>
        <p:spPr>
          <a:xfrm>
            <a:off x="640080" y="1828799"/>
            <a:ext cx="7315200" cy="731520"/>
          </a:xfrm>
          <a:prstGeom prst="rect">
            <a:avLst/>
          </a:prstGeom>
          <a:noFill/>
        </p:spPr>
        <p:txBody>
          <a:bodyPr wrap="square">
            <a:spAutoFit/>
          </a:bodyPr>
          <a:lstStyle/>
          <a:p>
            <a:r>
              <a:rPr sz="1600"/>
              <a:t>InvestCloud taps AI to drive advisor productivity</a:t>
            </a:r>
          </a:p>
        </p:txBody>
      </p:sp>
      <p:sp>
        <p:nvSpPr>
          <p:cNvPr id="6" name="TextBox 5"/>
          <p:cNvSpPr txBox="1"/>
          <p:nvPr/>
        </p:nvSpPr>
        <p:spPr>
          <a:xfrm>
            <a:off x="640080" y="2651760"/>
            <a:ext cx="7315200" cy="3840480"/>
          </a:xfrm>
          <a:prstGeom prst="rect">
            <a:avLst/>
          </a:prstGeom>
          <a:noFill/>
        </p:spPr>
        <p:txBody>
          <a:bodyPr wrap="square">
            <a:spAutoFit/>
          </a:bodyPr>
          <a:lstStyle/>
          <a:p>
            <a:pPr/>
            <a:r>
              <a:t>InvestCloud has launched AI-enabled solutions, Intelligent Screening and Intelligent Meeting, to enhance productivity and client value for financial advisors. Intelligent Screening, powered by smartKYC, automates client onboarding and risk monitoring, while Intelligent Meeting, supported by Zocks, automates meeting preparation and follow-up tasks. These solutions aim to integrate fragmented data systems, improve advisor productivity, and enhance client engagement. InvestCloud's strategic direction focuses on creating a unified wealth data model to drive AI-enabled workflows and uphold data privacy standards.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finextra.com/pressarticle/106642/investcloud-taps-ai-to-drive-advisor-productivity?utm_medium=rssfinextra&amp;utm_source=finextrafeed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Maybank signs RM1bn digital transformation deal with Microsoft</a:t>
            </a:r>
          </a:p>
        </p:txBody>
      </p:sp>
      <p:sp>
        <p:nvSpPr>
          <p:cNvPr id="5" name="TextBox 4"/>
          <p:cNvSpPr txBox="1"/>
          <p:nvPr/>
        </p:nvSpPr>
        <p:spPr>
          <a:xfrm>
            <a:off x="640080" y="1828799"/>
            <a:ext cx="7315200" cy="731520"/>
          </a:xfrm>
          <a:prstGeom prst="rect">
            <a:avLst/>
          </a:prstGeom>
          <a:noFill/>
        </p:spPr>
        <p:txBody>
          <a:bodyPr wrap="square">
            <a:spAutoFit/>
          </a:bodyPr>
          <a:lstStyle/>
          <a:p>
            <a:r>
              <a:rPr sz="1600"/>
              <a:t>Maybank signs RM1bn digital transformation deal with Microsoft</a:t>
            </a:r>
          </a:p>
        </p:txBody>
      </p:sp>
      <p:sp>
        <p:nvSpPr>
          <p:cNvPr id="6" name="TextBox 5"/>
          <p:cNvSpPr txBox="1"/>
          <p:nvPr/>
        </p:nvSpPr>
        <p:spPr>
          <a:xfrm>
            <a:off x="640080" y="2651760"/>
            <a:ext cx="7315200" cy="3840480"/>
          </a:xfrm>
          <a:prstGeom prst="rect">
            <a:avLst/>
          </a:prstGeom>
          <a:noFill/>
        </p:spPr>
        <p:txBody>
          <a:bodyPr wrap="square">
            <a:spAutoFit/>
          </a:bodyPr>
          <a:lstStyle/>
          <a:p>
            <a:pPr/>
            <a:r>
              <a:t>Maybank, Malaysia's largest financial institution, has partnered with Microsoft in a deal potentially worth RM1bn ($226m) over five years to drive its digital transformation using AI and cloud technologies. The transformation will involve migrating to Microsoft 365 and utilizing Microsoft Azure to support Maybank's strategic systems and workloads, aiming to enhance innovation, resilience, and cost-efficiency. Maybank's president and group CEO, Dato’ Sri Khairussaleh Ramli, emphasized that the partnership is a significant step in their digital journey, focusing on better serving customers and creating long-term value.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finextra.com/newsarticle/46410/maybank-signs-rm1bn-digital-transformation-deal-with-microsoft?utm_medium=rssfinextra&amp;utm_source=finextrafeed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Wells Fargo enlists Google Cloud for agentic AI play</a:t>
            </a:r>
          </a:p>
        </p:txBody>
      </p:sp>
      <p:sp>
        <p:nvSpPr>
          <p:cNvPr id="5" name="TextBox 4"/>
          <p:cNvSpPr txBox="1"/>
          <p:nvPr/>
        </p:nvSpPr>
        <p:spPr>
          <a:xfrm>
            <a:off x="640080" y="1828799"/>
            <a:ext cx="7315200" cy="731520"/>
          </a:xfrm>
          <a:prstGeom prst="rect">
            <a:avLst/>
          </a:prstGeom>
          <a:noFill/>
        </p:spPr>
        <p:txBody>
          <a:bodyPr wrap="square">
            <a:spAutoFit/>
          </a:bodyPr>
          <a:lstStyle/>
          <a:p>
            <a:r>
              <a:rPr sz="1600"/>
              <a:t>Wells Fargo enlists Google Cloud for agentic AI play</a:t>
            </a:r>
          </a:p>
        </p:txBody>
      </p:sp>
      <p:sp>
        <p:nvSpPr>
          <p:cNvPr id="6" name="TextBox 5"/>
          <p:cNvSpPr txBox="1"/>
          <p:nvPr/>
        </p:nvSpPr>
        <p:spPr>
          <a:xfrm>
            <a:off x="640080" y="2651760"/>
            <a:ext cx="7315200" cy="3840480"/>
          </a:xfrm>
          <a:prstGeom prst="rect">
            <a:avLst/>
          </a:prstGeom>
          <a:noFill/>
        </p:spPr>
        <p:txBody>
          <a:bodyPr wrap="square">
            <a:spAutoFit/>
          </a:bodyPr>
          <a:lstStyle/>
          <a:p>
            <a:pPr/>
            <a:r>
              <a:t>Wells Fargo is expanding its partnership with Google Cloud to implement agentic AI across its operations, enhancing the AI virtual assistant, Fargo, launched in 2022. This expansion will provide AI tools to employees, including branch and investment bankers, marketers, and customer relations teams, utilizing Google Agentspace for scalable agent management. The AI agents will assist in complex tasks like foreign exchange inquiries and automate routine tasks such as balance inquiries and debit card replacements, aiming to improve efficiency and client focus. Additionally, AI will streamline contract management by rapidly querying extensive vendor agreement documents for specific clauses and terms.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finextra.com/newsarticle/46405/wells-fargo-enlists-google-cloud-for-agentic-ai-play?utm_medium=rssfinextra&amp;utm_source=finextrafeed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NatWest and Google to boost UK startups with AI tools and training</a:t>
            </a:r>
          </a:p>
        </p:txBody>
      </p:sp>
      <p:sp>
        <p:nvSpPr>
          <p:cNvPr id="5" name="TextBox 4"/>
          <p:cNvSpPr txBox="1"/>
          <p:nvPr/>
        </p:nvSpPr>
        <p:spPr>
          <a:xfrm>
            <a:off x="640080" y="1828799"/>
            <a:ext cx="7315200" cy="731520"/>
          </a:xfrm>
          <a:prstGeom prst="rect">
            <a:avLst/>
          </a:prstGeom>
          <a:noFill/>
        </p:spPr>
        <p:txBody>
          <a:bodyPr wrap="square">
            <a:spAutoFit/>
          </a:bodyPr>
          <a:lstStyle/>
          <a:p>
            <a:r>
              <a:rPr sz="1600"/>
              <a:t>NatWest and Google to boost UK startups with AI tools and training</a:t>
            </a:r>
          </a:p>
        </p:txBody>
      </p:sp>
      <p:sp>
        <p:nvSpPr>
          <p:cNvPr id="6" name="TextBox 5"/>
          <p:cNvSpPr txBox="1"/>
          <p:nvPr/>
        </p:nvSpPr>
        <p:spPr>
          <a:xfrm>
            <a:off x="640080" y="2651760"/>
            <a:ext cx="7315200" cy="3840480"/>
          </a:xfrm>
          <a:prstGeom prst="rect">
            <a:avLst/>
          </a:prstGeom>
          <a:noFill/>
        </p:spPr>
        <p:txBody>
          <a:bodyPr wrap="square">
            <a:spAutoFit/>
          </a:bodyPr>
          <a:lstStyle/>
          <a:p>
            <a:pPr/>
            <a:r>
              <a:t>NatWest is collaborating with Google Cloud to provide entrepreneurs in its UK business Accelerator with AI tools, cloud technology, and expert training. A survey of 1000 businesses across 10 sectors found that 'future fit' businesses, which are more inclined to use data analysis for decision-making, are nearly twice as likely to implement AI tools compared to the average business. Google Cloud will offer practical AI and digital marketing training through NatWest's Accelerator hubs and app, along with Google Cloud credits to help startups reduce costs and technical barriers. Additionally, Google will partner with NatWest on a £1 million Accelerator Pitch competition, where the winner will receive £70,000 to support their business growth.</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finextra.com/newsarticle/46397/natwest-and-google-to-boost-uk-startups-with-ai-tools-and-training?utm_medium=rssfinextra&amp;utm_source=finextrafeed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Standard Chartered signs AI deal with Alibaba</a:t>
            </a:r>
          </a:p>
        </p:txBody>
      </p:sp>
      <p:sp>
        <p:nvSpPr>
          <p:cNvPr id="5" name="TextBox 4"/>
          <p:cNvSpPr txBox="1"/>
          <p:nvPr/>
        </p:nvSpPr>
        <p:spPr>
          <a:xfrm>
            <a:off x="640080" y="1828799"/>
            <a:ext cx="7315200" cy="731520"/>
          </a:xfrm>
          <a:prstGeom prst="rect">
            <a:avLst/>
          </a:prstGeom>
          <a:noFill/>
        </p:spPr>
        <p:txBody>
          <a:bodyPr wrap="square">
            <a:spAutoFit/>
          </a:bodyPr>
          <a:lstStyle/>
          <a:p>
            <a:r>
              <a:rPr sz="1600"/>
              <a:t>Standard Chartered signs AI deal with Alibaba</a:t>
            </a:r>
          </a:p>
        </p:txBody>
      </p:sp>
      <p:sp>
        <p:nvSpPr>
          <p:cNvPr id="6" name="TextBox 5"/>
          <p:cNvSpPr txBox="1"/>
          <p:nvPr/>
        </p:nvSpPr>
        <p:spPr>
          <a:xfrm>
            <a:off x="640080" y="2651760"/>
            <a:ext cx="7315200" cy="3840480"/>
          </a:xfrm>
          <a:prstGeom prst="rect">
            <a:avLst/>
          </a:prstGeom>
          <a:noFill/>
        </p:spPr>
        <p:txBody>
          <a:bodyPr wrap="square">
            <a:spAutoFit/>
          </a:bodyPr>
          <a:lstStyle/>
          <a:p>
            <a:pPr/>
            <a:r>
              <a:t>Standard Chartered has entered into a strategic partnership with Alibaba Group, focusing on AI and cloud technologies, as outlined in their Memorandum of Understanding. The collaboration will leverage Alibaba Cloud’s AI technologies to enhance customer service, sales intelligence, risk management, compliance, and staff training. Standard Chartered will also offer tailored banking services to Alibaba Group, including financial support and cross-border fund management. The bank is actively investing in AI, having recently rolled out a Chat GPT tool and appointed key executives to strengthen its AI capabilities.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finextra.com/newsarticle/46376/standard-chartered-signs-ai-deal-with-alibaba?utm_medium=rssfinextra&amp;utm_source=finextrafeed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600" b="1"/>
              <a:t>GPT-5 and the new era of work</a:t>
            </a:r>
          </a:p>
        </p:txBody>
      </p:sp>
      <p:sp>
        <p:nvSpPr>
          <p:cNvPr id="5" name="TextBox 4"/>
          <p:cNvSpPr txBox="1"/>
          <p:nvPr/>
        </p:nvSpPr>
        <p:spPr>
          <a:xfrm>
            <a:off x="640080" y="1828799"/>
            <a:ext cx="7315200" cy="731520"/>
          </a:xfrm>
          <a:prstGeom prst="rect">
            <a:avLst/>
          </a:prstGeom>
          <a:noFill/>
        </p:spPr>
        <p:txBody>
          <a:bodyPr wrap="square">
            <a:spAutoFit/>
          </a:bodyPr>
          <a:lstStyle/>
          <a:p>
            <a:r>
              <a:rPr sz="1600"/>
              <a:t>GPT-5 and the new era of work</a:t>
            </a:r>
          </a:p>
        </p:txBody>
      </p:sp>
      <p:sp>
        <p:nvSpPr>
          <p:cNvPr id="6" name="TextBox 5"/>
          <p:cNvSpPr txBox="1"/>
          <p:nvPr/>
        </p:nvSpPr>
        <p:spPr>
          <a:xfrm>
            <a:off x="640080" y="2651760"/>
            <a:ext cx="7315200" cy="3840480"/>
          </a:xfrm>
          <a:prstGeom prst="rect">
            <a:avLst/>
          </a:prstGeom>
          <a:noFill/>
        </p:spPr>
        <p:txBody>
          <a:bodyPr wrap="square">
            <a:spAutoFit/>
          </a:bodyPr>
          <a:lstStyle/>
          <a:p>
            <a:pPr/>
            <a:r>
              <a:t>GPT-5 is OpenAI’s most advanced model—transforming enterprise AI, automation, and workforce productivity in the new era of intelligent work.</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openai.com/index/gpt-5-new-era-of-work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A Single Poisoned Document Could Leak ‘Secret’ Data Via ChatGPT</a:t>
            </a:r>
          </a:p>
        </p:txBody>
      </p:sp>
      <p:sp>
        <p:nvSpPr>
          <p:cNvPr id="5" name="TextBox 4"/>
          <p:cNvSpPr txBox="1"/>
          <p:nvPr/>
        </p:nvSpPr>
        <p:spPr>
          <a:xfrm>
            <a:off x="640080" y="1828799"/>
            <a:ext cx="7315200" cy="731520"/>
          </a:xfrm>
          <a:prstGeom prst="rect">
            <a:avLst/>
          </a:prstGeom>
          <a:noFill/>
        </p:spPr>
        <p:txBody>
          <a:bodyPr wrap="square">
            <a:spAutoFit/>
          </a:bodyPr>
          <a:lstStyle/>
          <a:p>
            <a:r>
              <a:rPr sz="1600"/>
              <a:t>A Single Poisoned Document Could Leak ‘Secret’ Data Via ChatGPT</a:t>
            </a:r>
          </a:p>
        </p:txBody>
      </p:sp>
      <p:sp>
        <p:nvSpPr>
          <p:cNvPr id="6" name="TextBox 5"/>
          <p:cNvSpPr txBox="1"/>
          <p:nvPr/>
        </p:nvSpPr>
        <p:spPr>
          <a:xfrm>
            <a:off x="640080" y="2651760"/>
            <a:ext cx="7315200" cy="3840480"/>
          </a:xfrm>
          <a:prstGeom prst="rect">
            <a:avLst/>
          </a:prstGeom>
          <a:noFill/>
        </p:spPr>
        <p:txBody>
          <a:bodyPr wrap="square">
            <a:spAutoFit/>
          </a:bodyPr>
          <a:lstStyle/>
          <a:p>
            <a:pPr/>
            <a:r>
              <a:t>Security researchers Michael Bargury and Tamir Ishay Sharbat demonstrated a vulnerability in OpenAI's Connectors at the Black Hat conference, showing how sensitive information could be extracted from a Google Drive account using an indirect prompt injection attack. This attack, named AgentFlayer, exploited a weakness in OpenAI's system, allowing API keys to be extracted by embedding a malicious prompt in a document shared via Google Drive. OpenAI has since introduced mitigations to prevent such data extraction techniques, though the attack highlights the increased risks associated with connecting AI models to external systems. The vulnerability underscores the importance of developing robust protections against prompt injection attacks as AI systems become more integrated with various data sources.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wired.com/story/poisoned-document-could-leak-secret-data-chatgpt/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OpenAI takes on Meta and DeepSeek with free and customisable AI models</a:t>
            </a:r>
          </a:p>
        </p:txBody>
      </p:sp>
      <p:sp>
        <p:nvSpPr>
          <p:cNvPr id="5" name="TextBox 4"/>
          <p:cNvSpPr txBox="1"/>
          <p:nvPr/>
        </p:nvSpPr>
        <p:spPr>
          <a:xfrm>
            <a:off x="640080" y="1828799"/>
            <a:ext cx="7315200" cy="731520"/>
          </a:xfrm>
          <a:prstGeom prst="rect">
            <a:avLst/>
          </a:prstGeom>
          <a:noFill/>
        </p:spPr>
        <p:txBody>
          <a:bodyPr wrap="square">
            <a:spAutoFit/>
          </a:bodyPr>
          <a:lstStyle/>
          <a:p>
            <a:r>
              <a:rPr sz="1600"/>
              <a:t>OpenAI takes on Meta and DeepSeek with free and customisable AI models</a:t>
            </a:r>
          </a:p>
        </p:txBody>
      </p:sp>
      <p:sp>
        <p:nvSpPr>
          <p:cNvPr id="6" name="TextBox 5"/>
          <p:cNvSpPr txBox="1"/>
          <p:nvPr/>
        </p:nvSpPr>
        <p:spPr>
          <a:xfrm>
            <a:off x="640080" y="2651760"/>
            <a:ext cx="7315200" cy="3840480"/>
          </a:xfrm>
          <a:prstGeom prst="rect">
            <a:avLst/>
          </a:prstGeom>
          <a:noFill/>
        </p:spPr>
        <p:txBody>
          <a:bodyPr wrap="square">
            <a:spAutoFit/>
          </a:bodyPr>
          <a:lstStyle/>
          <a:p>
            <a:pPr/>
            <a:r>
              <a:t>OpenAI has launched two freely available AI models, gpt-oss-120b and gpt-oss-20b-two, that can be downloaded and customized by developers, challenging Meta's Llama models and Chinese rival DeepSeek. These "open weight" models outperform similarly sized models on reasoning tasks and are part of OpenAI's effort to democratize AI access, though they are not fully open source. Concerns have been raised about the potential misuse of such models, but OpenAI has tested them for threats and found them lacking high capability levels. Meanwhile, Google DeepMind has introduced the Genie 3 "world model" as a step toward achieving artificial general intelligence (AGI), which could enable AI systems to perform tasks on par with humans.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theguardian.com/technology/2025/aug/05/openai-meta-launching-free-customisable-ai-models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These protocols will help AI agents navigate our messy lives</a:t>
            </a:r>
          </a:p>
        </p:txBody>
      </p:sp>
      <p:sp>
        <p:nvSpPr>
          <p:cNvPr id="5" name="TextBox 4"/>
          <p:cNvSpPr txBox="1"/>
          <p:nvPr/>
        </p:nvSpPr>
        <p:spPr>
          <a:xfrm>
            <a:off x="640080" y="1828799"/>
            <a:ext cx="7315200" cy="731520"/>
          </a:xfrm>
          <a:prstGeom prst="rect">
            <a:avLst/>
          </a:prstGeom>
          <a:noFill/>
        </p:spPr>
        <p:txBody>
          <a:bodyPr wrap="square">
            <a:spAutoFit/>
          </a:bodyPr>
          <a:lstStyle/>
          <a:p>
            <a:r>
              <a:rPr sz="1600"/>
              <a:t>These protocols will help AI agents navigate our messy lives</a:t>
            </a:r>
          </a:p>
        </p:txBody>
      </p:sp>
      <p:sp>
        <p:nvSpPr>
          <p:cNvPr id="6" name="TextBox 5"/>
          <p:cNvSpPr txBox="1"/>
          <p:nvPr/>
        </p:nvSpPr>
        <p:spPr>
          <a:xfrm>
            <a:off x="640080" y="2651760"/>
            <a:ext cx="7315200" cy="3840480"/>
          </a:xfrm>
          <a:prstGeom prst="rect">
            <a:avLst/>
          </a:prstGeom>
          <a:noFill/>
        </p:spPr>
        <p:txBody>
          <a:bodyPr wrap="square">
            <a:spAutoFit/>
          </a:bodyPr>
          <a:lstStyle/>
          <a:p>
            <a:pPr/>
            <a:r>
              <a:t>Anthropic and Google are developing protocols like the Model Context Protocol (MCP) and Agent2Agent protocol (A2A) to improve AI agents' interactions with digital programs and each other. MCP, introduced by Anthropic, aims to standardize AI interactions with various programs, while Google's A2A focuses on moderating exchanges between AI agents. Despite their potential, these protocols face challenges in security, openness, and efficiency, with MCP lacking a security design and both protocols being open-source to encourage collaborative development. Google has partnered with 150 companies for A2A, including Adobe and Salesforce, and MCP has over 15,000 servers, but both protocols still require significant development to address vulnerabilities and inefficiencies.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technologyreview.com/2025/08/04/1120996/protocols-help-agents-navigate-lives-mcp-a2a/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Introducing AEGIS — The Guardrails That CISOs Need For The Agentic Enterprise</a:t>
            </a:r>
          </a:p>
        </p:txBody>
      </p:sp>
      <p:sp>
        <p:nvSpPr>
          <p:cNvPr id="5" name="TextBox 4"/>
          <p:cNvSpPr txBox="1"/>
          <p:nvPr/>
        </p:nvSpPr>
        <p:spPr>
          <a:xfrm>
            <a:off x="640080" y="1828799"/>
            <a:ext cx="7315200" cy="731520"/>
          </a:xfrm>
          <a:prstGeom prst="rect">
            <a:avLst/>
          </a:prstGeom>
          <a:noFill/>
        </p:spPr>
        <p:txBody>
          <a:bodyPr wrap="square">
            <a:spAutoFit/>
          </a:bodyPr>
          <a:lstStyle/>
          <a:p>
            <a:r>
              <a:rPr sz="1600"/>
              <a:t>Introducing AEGIS — The Guardrails That CISOs Need For The Agentic Enterprise</a:t>
            </a:r>
          </a:p>
        </p:txBody>
      </p:sp>
      <p:sp>
        <p:nvSpPr>
          <p:cNvPr id="6" name="TextBox 5"/>
          <p:cNvSpPr txBox="1"/>
          <p:nvPr/>
        </p:nvSpPr>
        <p:spPr>
          <a:xfrm>
            <a:off x="640080" y="2651760"/>
            <a:ext cx="7315200" cy="3840480"/>
          </a:xfrm>
          <a:prstGeom prst="rect">
            <a:avLst/>
          </a:prstGeom>
          <a:noFill/>
        </p:spPr>
        <p:txBody>
          <a:bodyPr wrap="square">
            <a:spAutoFit/>
          </a:bodyPr>
          <a:lstStyle/>
          <a:p>
            <a:pPr/>
            <a:r>
              <a:t>Forrester has introduced AEGIS, a framework designed to help CISOs secure agentic AI enterprises, which are characterized by autonomous, scalable systems that exhibit emergent behavior. Traditional cybersecurity models are inadequate for these systems, which can bypass entitlements, trigger cascading failures, and obscure causal provenance. AEGIS consists of six domains: Governance, Risk, and Compliance (GRC); Identity and Access Management (IAM); Data Security and Privacy; Application Security; Threat Management; and Zero Trust Architecture. The framework emphasizes principles like least agency and continuous assurance, and provides a phased implementation roadmap to help organizations adapt to the new paradigm of securing intent rather than infrastructure.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forrester.com/blogs/introducing-aegis-the-guardrails-cisos-need-for-the-agentic-enterprise/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MLE-STAR: A state-of-the-art machine learning engineering agent</a:t>
            </a:r>
          </a:p>
        </p:txBody>
      </p:sp>
      <p:sp>
        <p:nvSpPr>
          <p:cNvPr id="5" name="TextBox 4"/>
          <p:cNvSpPr txBox="1"/>
          <p:nvPr/>
        </p:nvSpPr>
        <p:spPr>
          <a:xfrm>
            <a:off x="640080" y="1828799"/>
            <a:ext cx="7315200" cy="731520"/>
          </a:xfrm>
          <a:prstGeom prst="rect">
            <a:avLst/>
          </a:prstGeom>
          <a:noFill/>
        </p:spPr>
        <p:txBody>
          <a:bodyPr wrap="square">
            <a:spAutoFit/>
          </a:bodyPr>
          <a:lstStyle/>
          <a:p>
            <a:r>
              <a:rPr sz="1600"/>
              <a:t>MLE-STAR: A state-of-the-art machine learning engineering agent</a:t>
            </a:r>
          </a:p>
        </p:txBody>
      </p:sp>
      <p:sp>
        <p:nvSpPr>
          <p:cNvPr id="6" name="TextBox 5"/>
          <p:cNvSpPr txBox="1"/>
          <p:nvPr/>
        </p:nvSpPr>
        <p:spPr>
          <a:xfrm>
            <a:off x="640080" y="2651760"/>
            <a:ext cx="7315200" cy="3840480"/>
          </a:xfrm>
          <a:prstGeom prst="rect">
            <a:avLst/>
          </a:prstGeom>
          <a:noFill/>
        </p:spPr>
        <p:txBody>
          <a:bodyPr wrap="square">
            <a:spAutoFit/>
          </a:bodyPr>
          <a:lstStyle/>
          <a:p>
            <a:pPr/>
            <a:r>
              <a:t>MLE-STAR, a machine learning engineering agent developed by Google Cloud researchers, automates various ML tasks by integrating web search and targeted code refinement, outperforming alternatives by winning medals in 63% of Kaggle competitions in MLE-Bench-Lite. It addresses limitations of current MLE agents by employing recent models like EfficientNet or ViT, utilizing ensemble strategies, and incorporating modules for debugging, data leakage checking, and data usage checking. MLE-STAR's adaptability allows it to leverage updated models from the web, ensuring improved performance over time, and its open-source codebase facilitates accelerated ML project development.</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research.google/blog/mle-star-a-state-of-the-art-machine-learning-engineering-agents/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200" b="1"/>
              <a:t>AI On: How Financial Services Companies Use Agentic AI to Enhance Productivity, Efficiency and Security</a:t>
            </a:r>
          </a:p>
        </p:txBody>
      </p:sp>
      <p:sp>
        <p:nvSpPr>
          <p:cNvPr id="5" name="TextBox 4"/>
          <p:cNvSpPr txBox="1"/>
          <p:nvPr/>
        </p:nvSpPr>
        <p:spPr>
          <a:xfrm>
            <a:off x="640080" y="2240280"/>
            <a:ext cx="7315200" cy="731520"/>
          </a:xfrm>
          <a:prstGeom prst="rect">
            <a:avLst/>
          </a:prstGeom>
          <a:noFill/>
        </p:spPr>
        <p:txBody>
          <a:bodyPr wrap="square">
            <a:spAutoFit/>
          </a:bodyPr>
          <a:lstStyle/>
          <a:p>
            <a:r>
              <a:rPr sz="1600"/>
              <a:t>AI On: How Financial Services Companies Use Agentic AI to Enhance Productivity, Efficiency and Security</a:t>
            </a:r>
          </a:p>
        </p:txBody>
      </p:sp>
      <p:sp>
        <p:nvSpPr>
          <p:cNvPr id="6" name="TextBox 5"/>
          <p:cNvSpPr txBox="1"/>
          <p:nvPr/>
        </p:nvSpPr>
        <p:spPr>
          <a:xfrm>
            <a:off x="640080" y="3063240"/>
            <a:ext cx="7315200" cy="3840480"/>
          </a:xfrm>
          <a:prstGeom prst="rect">
            <a:avLst/>
          </a:prstGeom>
          <a:noFill/>
        </p:spPr>
        <p:txBody>
          <a:bodyPr wrap="square">
            <a:spAutoFit/>
          </a:bodyPr>
          <a:lstStyle/>
          <a:p>
            <a:pPr/>
            <a:r>
              <a:t>Advancements in agentic AI have enabled intelligent systems to facilitate autonomous decision-making across industries, particularly in financial services, where the use of generative AI for customer service has increased from 25% to 60% over the past year. According to NVIDIA's State of AI in Financial Services report, over 90% of respondents noted a positive revenue impact from AI, with AI agents being used for tasks like portfolio optimization, compliance automation, and fraud detection. AI has improved customer experiences by 26% and enhanced cybersecurity, with a third of respondents investing in AI for this purpose. Examples of AI integration include BlackRock's Aladdin Copilot, bunq's Finn platform, Capital One's Chat Concierge, and RBC's Aiden platform, all of which leverage AI to streamline operations and improve user experiences.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blogs.nvidia.com/blog/financial-services-agentic-ai/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SensorLM: Learning the language of wearable sensors</a:t>
            </a:r>
          </a:p>
        </p:txBody>
      </p:sp>
      <p:sp>
        <p:nvSpPr>
          <p:cNvPr id="5" name="TextBox 4"/>
          <p:cNvSpPr txBox="1"/>
          <p:nvPr/>
        </p:nvSpPr>
        <p:spPr>
          <a:xfrm>
            <a:off x="640080" y="1828799"/>
            <a:ext cx="7315200" cy="731520"/>
          </a:xfrm>
          <a:prstGeom prst="rect">
            <a:avLst/>
          </a:prstGeom>
          <a:noFill/>
        </p:spPr>
        <p:txBody>
          <a:bodyPr wrap="square">
            <a:spAutoFit/>
          </a:bodyPr>
          <a:lstStyle/>
          <a:p>
            <a:r>
              <a:rPr sz="1600"/>
              <a:t>SensorLM: Learning the language of wearable sensors</a:t>
            </a:r>
          </a:p>
        </p:txBody>
      </p:sp>
      <p:sp>
        <p:nvSpPr>
          <p:cNvPr id="6" name="TextBox 5"/>
          <p:cNvSpPr txBox="1"/>
          <p:nvPr/>
        </p:nvSpPr>
        <p:spPr>
          <a:xfrm>
            <a:off x="640080" y="2651760"/>
            <a:ext cx="7315200" cy="3840480"/>
          </a:xfrm>
          <a:prstGeom prst="rect">
            <a:avLst/>
          </a:prstGeom>
          <a:noFill/>
        </p:spPr>
        <p:txBody>
          <a:bodyPr wrap="square">
            <a:spAutoFit/>
          </a:bodyPr>
          <a:lstStyle/>
          <a:p>
            <a:pPr/>
            <a:r>
              <a:t>SensorLM is a new family of sensor-language foundation models developed by Google Research, trained on 59.7 million hours of multimodal sensor data from over 103,000 individuals, to bridge the gap between wearable sensor signals and natural language. The models utilize contrastive learning and generative pre-training to interpret and generate human-readable descriptions from high-dimensional wearable data, achieving state-of-the-art results in human activity recognition and healthcare tasks. SensorLM excels in zero-shot and few-shot learning, enabling accurate activity classification and cross-modal retrieval, and demonstrates impressive generative capabilities for producing coherent and contextually relevant captions. The research indicates that SensorLM's performance improves with more data and larger model sizes, suggesting significant potential for further advancements in personalized health insights and applications.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research.google/blog/sensorlm-learning-the-language-of-wearable-sensors/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The Autonomous Testing Platforms Landscape, Q3 2025, Is Out!</a:t>
            </a:r>
          </a:p>
        </p:txBody>
      </p:sp>
      <p:sp>
        <p:nvSpPr>
          <p:cNvPr id="5" name="TextBox 4"/>
          <p:cNvSpPr txBox="1"/>
          <p:nvPr/>
        </p:nvSpPr>
        <p:spPr>
          <a:xfrm>
            <a:off x="640080" y="1828799"/>
            <a:ext cx="7315200" cy="731520"/>
          </a:xfrm>
          <a:prstGeom prst="rect">
            <a:avLst/>
          </a:prstGeom>
          <a:noFill/>
        </p:spPr>
        <p:txBody>
          <a:bodyPr wrap="square">
            <a:spAutoFit/>
          </a:bodyPr>
          <a:lstStyle/>
          <a:p>
            <a:r>
              <a:rPr sz="1600"/>
              <a:t>The Autonomous Testing Platforms Landscape, Q3 2025, Is Out!</a:t>
            </a:r>
          </a:p>
        </p:txBody>
      </p:sp>
      <p:sp>
        <p:nvSpPr>
          <p:cNvPr id="6" name="TextBox 5"/>
          <p:cNvSpPr txBox="1"/>
          <p:nvPr/>
        </p:nvSpPr>
        <p:spPr>
          <a:xfrm>
            <a:off x="640080" y="2651760"/>
            <a:ext cx="7315200" cy="3840480"/>
          </a:xfrm>
          <a:prstGeom prst="rect">
            <a:avLst/>
          </a:prstGeom>
          <a:noFill/>
        </p:spPr>
        <p:txBody>
          <a:bodyPr wrap="square">
            <a:spAutoFit/>
          </a:bodyPr>
          <a:lstStyle/>
          <a:p>
            <a:pPr/>
            <a:r>
              <a:t>The Autonomous Testing Platforms Landscape, Q3 2025 report by Forrester highlights the need for a strategic shift in software testing due to the rise of AI and generative technologies. It profiles 31 vendors offering autonomous testing platforms (ATPs) that combine traditional automation with AI to enhance testing efficiency, governance, and collaboration. ATPs accelerate time to value, reduce strategic risk, and democratize testing, while also addressing the testing of AI-infused applications. The market is evolving, with differentiation in agentic testing and business outcome validation, and organizations are encouraged to explore ATPs to align testing with modern software delivery.</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forrester.com/blogs/the-autonomous-testing-platform-vendor-landscape-q2-2025-is-out/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Why AI Isn’t The Silver Bullet For Customer Service — Yet</a:t>
            </a:r>
          </a:p>
        </p:txBody>
      </p:sp>
      <p:sp>
        <p:nvSpPr>
          <p:cNvPr id="5" name="TextBox 4"/>
          <p:cNvSpPr txBox="1"/>
          <p:nvPr/>
        </p:nvSpPr>
        <p:spPr>
          <a:xfrm>
            <a:off x="640080" y="1828799"/>
            <a:ext cx="7315200" cy="731520"/>
          </a:xfrm>
          <a:prstGeom prst="rect">
            <a:avLst/>
          </a:prstGeom>
          <a:noFill/>
        </p:spPr>
        <p:txBody>
          <a:bodyPr wrap="square">
            <a:spAutoFit/>
          </a:bodyPr>
          <a:lstStyle/>
          <a:p>
            <a:r>
              <a:rPr sz="1600"/>
              <a:t>Why AI Isn’t The Silver Bullet For Customer Service — Yet</a:t>
            </a:r>
          </a:p>
        </p:txBody>
      </p:sp>
      <p:sp>
        <p:nvSpPr>
          <p:cNvPr id="6" name="TextBox 5"/>
          <p:cNvSpPr txBox="1"/>
          <p:nvPr/>
        </p:nvSpPr>
        <p:spPr>
          <a:xfrm>
            <a:off x="640080" y="2651760"/>
            <a:ext cx="7315200" cy="3840480"/>
          </a:xfrm>
          <a:prstGeom prst="rect">
            <a:avLst/>
          </a:prstGeom>
          <a:noFill/>
        </p:spPr>
        <p:txBody>
          <a:bodyPr wrap="square">
            <a:spAutoFit/>
          </a:bodyPr>
          <a:lstStyle/>
          <a:p>
            <a:pPr/>
            <a:r>
              <a:t>Modern AI technologies like generative AI and large language models are being integrated into customer service, offering improvements such as call summarization and agent assist tools. However, AI is not delivering the expected transformative results due to outdated systems, fragmented processes, and organizational inertia. Examples of AI failures include Air Canada and British Airways, where chatbots provided incorrect information, highlighting the importance of supporting systems and data. To fully realize AI’s potential, organizations must modernize infrastructure, reskill the workforce, and ensure seamless integration of AI tools.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forrester.com/blogs/why-ai-isnt-the-silver-bullet-for-customer-service-yet/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Could Dementia Patients Benefit from an A.I. Companion?</a:t>
            </a:r>
          </a:p>
        </p:txBody>
      </p:sp>
      <p:sp>
        <p:nvSpPr>
          <p:cNvPr id="5" name="TextBox 4"/>
          <p:cNvSpPr txBox="1"/>
          <p:nvPr/>
        </p:nvSpPr>
        <p:spPr>
          <a:xfrm>
            <a:off x="640080" y="1828799"/>
            <a:ext cx="7315200" cy="731520"/>
          </a:xfrm>
          <a:prstGeom prst="rect">
            <a:avLst/>
          </a:prstGeom>
          <a:noFill/>
        </p:spPr>
        <p:txBody>
          <a:bodyPr wrap="square">
            <a:spAutoFit/>
          </a:bodyPr>
          <a:lstStyle/>
          <a:p>
            <a:r>
              <a:rPr sz="1600"/>
              <a:t>Could Dementia Patients Benefit from an A.I. Companion?</a:t>
            </a:r>
          </a:p>
        </p:txBody>
      </p:sp>
      <p:sp>
        <p:nvSpPr>
          <p:cNvPr id="6" name="TextBox 5"/>
          <p:cNvSpPr txBox="1"/>
          <p:nvPr/>
        </p:nvSpPr>
        <p:spPr>
          <a:xfrm>
            <a:off x="640080" y="2651760"/>
            <a:ext cx="7315200" cy="3840480"/>
          </a:xfrm>
          <a:prstGeom prst="rect">
            <a:avLst/>
          </a:prstGeom>
          <a:noFill/>
        </p:spPr>
        <p:txBody>
          <a:bodyPr wrap="square">
            <a:spAutoFit/>
          </a:bodyPr>
          <a:lstStyle/>
          <a:p>
            <a:pPr/>
            <a:r>
              <a:t>New products are being developed in an attempt to reduce loneliness and bolster cognition.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nytimes.com/2025/07/31/well/mind/dementia-ai-companions.html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MIT Learn offers “a whole new front door to the Institute”</a:t>
            </a:r>
          </a:p>
        </p:txBody>
      </p:sp>
      <p:sp>
        <p:nvSpPr>
          <p:cNvPr id="5" name="TextBox 4"/>
          <p:cNvSpPr txBox="1"/>
          <p:nvPr/>
        </p:nvSpPr>
        <p:spPr>
          <a:xfrm>
            <a:off x="640080" y="1828799"/>
            <a:ext cx="7315200" cy="731520"/>
          </a:xfrm>
          <a:prstGeom prst="rect">
            <a:avLst/>
          </a:prstGeom>
          <a:noFill/>
        </p:spPr>
        <p:txBody>
          <a:bodyPr wrap="square">
            <a:spAutoFit/>
          </a:bodyPr>
          <a:lstStyle/>
          <a:p>
            <a:r>
              <a:rPr sz="1600"/>
              <a:t>MIT Learn offers “a whole new front door to the Institute”</a:t>
            </a:r>
          </a:p>
        </p:txBody>
      </p:sp>
      <p:sp>
        <p:nvSpPr>
          <p:cNvPr id="6" name="TextBox 5"/>
          <p:cNvSpPr txBox="1"/>
          <p:nvPr/>
        </p:nvSpPr>
        <p:spPr>
          <a:xfrm>
            <a:off x="640080" y="2651760"/>
            <a:ext cx="7315200" cy="3840480"/>
          </a:xfrm>
          <a:prstGeom prst="rect">
            <a:avLst/>
          </a:prstGeom>
          <a:noFill/>
        </p:spPr>
        <p:txBody>
          <a:bodyPr wrap="square">
            <a:spAutoFit/>
          </a:bodyPr>
          <a:lstStyle/>
          <a:p>
            <a:pPr/>
            <a:r>
              <a:t>MIT has launched MIT Learn, an AI-enabled website that consolidates over 12,700 educational resources from its various learning platforms, making them more accessible globally. The platform offers personalized course recommendations, AI-powered features like "Ask Tim" for course summaries, and interactive AI assistants in select courses. MIT Learn aims to foster long-term relationships with learners by providing a comprehensive, searchable repository of educational content, including supplemental materials for students and reskilling programs for professionals. The initiative, led by MIT Open Learning, is designed to enhance the learning experience and support MIT's mission of global knowledge dissemination.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news.mit.edu/2025/mit-learn-offers-whole-new-front-door-institute-0721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