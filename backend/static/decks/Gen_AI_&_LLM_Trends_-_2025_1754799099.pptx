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clock-didnt-stop-the-eu-ai-act-will-reshape-your-ai-strategy-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t.com/content/ad12a0ec-9d6d-4ee7-83b7-643415f1a3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risk-and-resilience/our-insights/how-agentic-ai-can-change-the-way-banks-fight-financial-cri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5-new-era-of-wor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wired.com/story/poisoned-document-could-leak-secret-data-chatgp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heguardian.com/technology/2025/aug/05/openai-meta-launching-free-customisable-ai-model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echnologyreview.com/2025/08/04/1120996/protocols-help-agents-navigate-lives-mcp-a2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introducing-aegis-the-guardrails-cisos-need-for-the-agentic-enterpri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mle-star-a-state-of-the-art-machine-learning-engineering-age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logs.nvidia.com/blog/financial-services-agentic-a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sensorlm-learning-the-language-of-wearable-sens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autonomous-testing-platform-vendor-landscape-q2-2025-is-ou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why-ai-isnt-the-silver-bullet-for-customer-service-y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nytimes.com/2025/07/31/well/mind/dementia-ai-compan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5400"/>
              <a:t>Executive Summary</a:t>
            </a:r>
          </a:p>
        </p:txBody>
      </p:sp>
      <p:sp>
        <p:nvSpPr>
          <p:cNvPr id="3" name="Text Placeholder 2"/>
          <p:cNvSpPr>
            <a:spLocks noGrp="1"/>
          </p:cNvSpPr>
          <p:nvPr>
            <p:ph type="body" idx="1"/>
          </p:nvPr>
        </p:nvSpPr>
        <p:spPr/>
        <p:txBody>
          <a:bodyPr/>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The Clock Didn’t Stop: The EU AI Act Will Reshape Your AI Strategy — Now</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The Clock Didn’t Stop: The EU AI Act Will Reshape Your AI Strategy — Now</a:t>
            </a:r>
          </a:p>
        </p:txBody>
      </p:sp>
      <p:sp>
        <p:nvSpPr>
          <p:cNvPr id="5" name="TextBox 4"/>
          <p:cNvSpPr txBox="1"/>
          <p:nvPr/>
        </p:nvSpPr>
        <p:spPr>
          <a:xfrm>
            <a:off x="640080" y="2560320"/>
            <a:ext cx="7315200" cy="3840480"/>
          </a:xfrm>
          <a:prstGeom prst="rect">
            <a:avLst/>
          </a:prstGeom>
          <a:noFill/>
        </p:spPr>
        <p:txBody>
          <a:bodyPr wrap="square">
            <a:spAutoFit/>
          </a:bodyPr>
          <a:lstStyle/>
          <a:p>
            <a:pPr/>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The fund manager of the future might just be a machine</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The fund manager of the future might just be a machine</a:t>
            </a:r>
          </a:p>
        </p:txBody>
      </p:sp>
      <p:sp>
        <p:nvSpPr>
          <p:cNvPr id="5" name="TextBox 4"/>
          <p:cNvSpPr txBox="1"/>
          <p:nvPr/>
        </p:nvSpPr>
        <p:spPr>
          <a:xfrm>
            <a:off x="640080" y="256032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5400"/>
              <a:t>Broadridge invests in AI platform Uptiq</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Broadridge invests in AI platform Uptiq</a:t>
            </a:r>
          </a:p>
        </p:txBody>
      </p:sp>
      <p:sp>
        <p:nvSpPr>
          <p:cNvPr id="5" name="TextBox 4"/>
          <p:cNvSpPr txBox="1"/>
          <p:nvPr/>
        </p:nvSpPr>
        <p:spPr>
          <a:xfrm>
            <a:off x="640080" y="2560320"/>
            <a:ext cx="7315200" cy="3840480"/>
          </a:xfrm>
          <a:prstGeom prst="rect">
            <a:avLst/>
          </a:prstGeom>
          <a:noFill/>
        </p:spPr>
        <p:txBody>
          <a:bodyPr wrap="square">
            <a:spAutoFit/>
          </a:bodyPr>
          <a:lstStyle/>
          <a:p>
            <a:pPr/>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5400"/>
              <a:t>EToro touts AI for social investing</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EToro touts AI for social investing</a:t>
            </a:r>
          </a:p>
        </p:txBody>
      </p:sp>
      <p:sp>
        <p:nvSpPr>
          <p:cNvPr id="5" name="TextBox 4"/>
          <p:cNvSpPr txBox="1"/>
          <p:nvPr/>
        </p:nvSpPr>
        <p:spPr>
          <a:xfrm>
            <a:off x="640080" y="256032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How agentic AI can change the way banks fight financial crime</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How agentic AI can change the way banks fight financial crime</a:t>
            </a:r>
          </a:p>
        </p:txBody>
      </p:sp>
      <p:sp>
        <p:nvSpPr>
          <p:cNvPr id="5" name="TextBox 4"/>
          <p:cNvSpPr txBox="1"/>
          <p:nvPr/>
        </p:nvSpPr>
        <p:spPr>
          <a:xfrm>
            <a:off x="640080" y="256032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InvestCloud taps AI to drive advisor productivity</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InvestCloud taps AI to drive advisor productivity</a:t>
            </a:r>
          </a:p>
        </p:txBody>
      </p:sp>
      <p:sp>
        <p:nvSpPr>
          <p:cNvPr id="5" name="TextBox 4"/>
          <p:cNvSpPr txBox="1"/>
          <p:nvPr/>
        </p:nvSpPr>
        <p:spPr>
          <a:xfrm>
            <a:off x="640080" y="2560320"/>
            <a:ext cx="7315200" cy="3840480"/>
          </a:xfrm>
          <a:prstGeom prst="rect">
            <a:avLst/>
          </a:prstGeom>
          <a:noFill/>
        </p:spPr>
        <p:txBody>
          <a:bodyPr wrap="square">
            <a:spAutoFit/>
          </a:bodyPr>
          <a:lstStyle/>
          <a:p>
            <a:pPr/>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Maybank signs RM1bn digital transformation deal with Microsoft</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Maybank signs RM1bn digital transformation deal with Microsoft</a:t>
            </a:r>
          </a:p>
        </p:txBody>
      </p:sp>
      <p:sp>
        <p:nvSpPr>
          <p:cNvPr id="5" name="TextBox 4"/>
          <p:cNvSpPr txBox="1"/>
          <p:nvPr/>
        </p:nvSpPr>
        <p:spPr>
          <a:xfrm>
            <a:off x="640080" y="256032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Wells Fargo enlists Google Cloud for agentic AI play</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Wells Fargo enlists Google Cloud for agentic AI play</a:t>
            </a:r>
          </a:p>
        </p:txBody>
      </p:sp>
      <p:sp>
        <p:nvSpPr>
          <p:cNvPr id="5" name="TextBox 4"/>
          <p:cNvSpPr txBox="1"/>
          <p:nvPr/>
        </p:nvSpPr>
        <p:spPr>
          <a:xfrm>
            <a:off x="640080" y="256032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NatWest and Google to boost UK startups with AI tools and training</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NatWest and Google to boost UK startups with AI tools and training</a:t>
            </a:r>
          </a:p>
        </p:txBody>
      </p:sp>
      <p:sp>
        <p:nvSpPr>
          <p:cNvPr id="5" name="TextBox 4"/>
          <p:cNvSpPr txBox="1"/>
          <p:nvPr/>
        </p:nvSpPr>
        <p:spPr>
          <a:xfrm>
            <a:off x="640080" y="256032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Standard Chartered signs AI deal with Alibaba</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Standard Chartered signs AI deal with Alibaba</a:t>
            </a:r>
          </a:p>
        </p:txBody>
      </p:sp>
      <p:sp>
        <p:nvSpPr>
          <p:cNvPr id="5" name="TextBox 4"/>
          <p:cNvSpPr txBox="1"/>
          <p:nvPr/>
        </p:nvSpPr>
        <p:spPr>
          <a:xfrm>
            <a:off x="640080" y="2560320"/>
            <a:ext cx="7315200" cy="3840480"/>
          </a:xfrm>
          <a:prstGeom prst="rect">
            <a:avLst/>
          </a:prstGeom>
          <a:noFill/>
        </p:spPr>
        <p:txBody>
          <a:bodyPr wrap="square">
            <a:spAutoFit/>
          </a:bodyPr>
          <a:lstStyle/>
          <a:p>
            <a:pPr/>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5400"/>
              <a:t>GPT-5 and the new era of work</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GPT-5 and the new era of work</a:t>
            </a:r>
          </a:p>
        </p:txBody>
      </p:sp>
      <p:sp>
        <p:nvSpPr>
          <p:cNvPr id="5" name="TextBox 4"/>
          <p:cNvSpPr txBox="1"/>
          <p:nvPr/>
        </p:nvSpPr>
        <p:spPr>
          <a:xfrm>
            <a:off x="640080" y="256032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A Single Poisoned Document Could Leak ‘Secret’ Data Via ChatGPT</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A Single Poisoned Document Could Leak ‘Secret’ Data Via ChatGPT</a:t>
            </a:r>
          </a:p>
        </p:txBody>
      </p:sp>
      <p:sp>
        <p:nvSpPr>
          <p:cNvPr id="5" name="TextBox 4"/>
          <p:cNvSpPr txBox="1"/>
          <p:nvPr/>
        </p:nvSpPr>
        <p:spPr>
          <a:xfrm>
            <a:off x="640080" y="2560320"/>
            <a:ext cx="7315200" cy="3840480"/>
          </a:xfrm>
          <a:prstGeom prst="rect">
            <a:avLst/>
          </a:prstGeom>
          <a:noFill/>
        </p:spPr>
        <p:txBody>
          <a:bodyPr wrap="square">
            <a:spAutoFit/>
          </a:bodyPr>
          <a:lstStyle/>
          <a:p>
            <a:pPr/>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OpenAI takes on Meta and DeepSeek with free and customisable AI models</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OpenAI takes on Meta and DeepSeek with free and customisable AI models</a:t>
            </a:r>
          </a:p>
        </p:txBody>
      </p:sp>
      <p:sp>
        <p:nvSpPr>
          <p:cNvPr id="5" name="TextBox 4"/>
          <p:cNvSpPr txBox="1"/>
          <p:nvPr/>
        </p:nvSpPr>
        <p:spPr>
          <a:xfrm>
            <a:off x="640080" y="2560320"/>
            <a:ext cx="7315200" cy="3840480"/>
          </a:xfrm>
          <a:prstGeom prst="rect">
            <a:avLst/>
          </a:prstGeom>
          <a:noFill/>
        </p:spPr>
        <p:txBody>
          <a:bodyPr wrap="square">
            <a:spAutoFit/>
          </a:bodyPr>
          <a:lstStyle/>
          <a:p>
            <a:pPr/>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These protocols will help AI agents navigate our messy lives</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These protocols will help AI agents navigate our messy lives</a:t>
            </a:r>
          </a:p>
        </p:txBody>
      </p:sp>
      <p:sp>
        <p:nvSpPr>
          <p:cNvPr id="5" name="TextBox 4"/>
          <p:cNvSpPr txBox="1"/>
          <p:nvPr/>
        </p:nvSpPr>
        <p:spPr>
          <a:xfrm>
            <a:off x="640080" y="2560320"/>
            <a:ext cx="7315200" cy="3840480"/>
          </a:xfrm>
          <a:prstGeom prst="rect">
            <a:avLst/>
          </a:prstGeom>
          <a:noFill/>
        </p:spPr>
        <p:txBody>
          <a:bodyPr wrap="square">
            <a:spAutoFit/>
          </a:bodyPr>
          <a:lstStyle/>
          <a:p>
            <a:pPr/>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Introducing AEGIS — The Guardrails That CISOs Need For The Agentic Enterprise</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Introducing AEGIS — The Guardrails That CISOs Need For The Agentic Enterprise</a:t>
            </a:r>
          </a:p>
        </p:txBody>
      </p:sp>
      <p:sp>
        <p:nvSpPr>
          <p:cNvPr id="5" name="TextBox 4"/>
          <p:cNvSpPr txBox="1"/>
          <p:nvPr/>
        </p:nvSpPr>
        <p:spPr>
          <a:xfrm>
            <a:off x="640080" y="256032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000"/>
              <a:t>MLE-STAR: A state-of-the-art machine learning engineering agent</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MLE-STAR: A state-of-the-art machine learning engineering agent</a:t>
            </a:r>
          </a:p>
        </p:txBody>
      </p:sp>
      <p:sp>
        <p:nvSpPr>
          <p:cNvPr id="5" name="TextBox 4"/>
          <p:cNvSpPr txBox="1"/>
          <p:nvPr/>
        </p:nvSpPr>
        <p:spPr>
          <a:xfrm>
            <a:off x="640080" y="2560320"/>
            <a:ext cx="7315200" cy="3840480"/>
          </a:xfrm>
          <a:prstGeom prst="rect">
            <a:avLst/>
          </a:prstGeom>
          <a:noFill/>
        </p:spPr>
        <p:txBody>
          <a:bodyPr wrap="square">
            <a:spAutoFit/>
          </a:bodyPr>
          <a:lstStyle/>
          <a:p>
            <a:pPr/>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600"/>
              <a:t>AI On: How Financial Services Companies Use Agentic AI to Enhance Productivity, Efficiency and Security</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AI On: How Financial Services Companies Use Agentic AI to Enhance Productivity, Efficiency and Security</a:t>
            </a:r>
          </a:p>
        </p:txBody>
      </p:sp>
      <p:sp>
        <p:nvSpPr>
          <p:cNvPr id="5" name="TextBox 4"/>
          <p:cNvSpPr txBox="1"/>
          <p:nvPr/>
        </p:nvSpPr>
        <p:spPr>
          <a:xfrm>
            <a:off x="640080" y="2560320"/>
            <a:ext cx="7315200" cy="3840480"/>
          </a:xfrm>
          <a:prstGeom prst="rect">
            <a:avLst/>
          </a:prstGeom>
          <a:noFill/>
        </p:spPr>
        <p:txBody>
          <a:bodyPr wrap="square">
            <a:spAutoFit/>
          </a:bodyPr>
          <a:lstStyle/>
          <a:p>
            <a:pPr/>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SensorLM: Learning the language of wearable sensors</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SensorLM: Learning the language of wearable sensors</a:t>
            </a:r>
          </a:p>
        </p:txBody>
      </p:sp>
      <p:sp>
        <p:nvSpPr>
          <p:cNvPr id="5" name="TextBox 4"/>
          <p:cNvSpPr txBox="1"/>
          <p:nvPr/>
        </p:nvSpPr>
        <p:spPr>
          <a:xfrm>
            <a:off x="640080" y="2560320"/>
            <a:ext cx="7315200" cy="3840480"/>
          </a:xfrm>
          <a:prstGeom prst="rect">
            <a:avLst/>
          </a:prstGeom>
          <a:noFill/>
        </p:spPr>
        <p:txBody>
          <a:bodyPr wrap="square">
            <a:spAutoFit/>
          </a:bodyPr>
          <a:lstStyle/>
          <a:p>
            <a:pPr/>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The Autonomous Testing Platforms Landscape, Q3 2025, Is Out!</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The Autonomous Testing Platforms Landscape, Q3 2025, Is Out!</a:t>
            </a:r>
          </a:p>
        </p:txBody>
      </p:sp>
      <p:sp>
        <p:nvSpPr>
          <p:cNvPr id="5" name="TextBox 4"/>
          <p:cNvSpPr txBox="1"/>
          <p:nvPr/>
        </p:nvSpPr>
        <p:spPr>
          <a:xfrm>
            <a:off x="640080" y="2560320"/>
            <a:ext cx="7315200" cy="3840480"/>
          </a:xfrm>
          <a:prstGeom prst="rect">
            <a:avLst/>
          </a:prstGeom>
          <a:noFill/>
        </p:spPr>
        <p:txBody>
          <a:bodyPr wrap="square">
            <a:spAutoFit/>
          </a:bodyPr>
          <a:lstStyle/>
          <a:p>
            <a:pPr/>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Why AI Isn’t The Silver Bullet For Customer Service — Yet</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Why AI Isn’t The Silver Bullet For Customer Service — Yet</a:t>
            </a:r>
          </a:p>
        </p:txBody>
      </p:sp>
      <p:sp>
        <p:nvSpPr>
          <p:cNvPr id="5" name="TextBox 4"/>
          <p:cNvSpPr txBox="1"/>
          <p:nvPr/>
        </p:nvSpPr>
        <p:spPr>
          <a:xfrm>
            <a:off x="640080" y="2560320"/>
            <a:ext cx="7315200" cy="3840480"/>
          </a:xfrm>
          <a:prstGeom prst="rect">
            <a:avLst/>
          </a:prstGeom>
          <a:noFill/>
        </p:spPr>
        <p:txBody>
          <a:bodyPr wrap="square">
            <a:spAutoFit/>
          </a:bodyPr>
          <a:lstStyle/>
          <a:p>
            <a:pPr/>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Could Dementia Patients Benefit from an A.I. Companion?</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Could Dementia Patients Benefit from an A.I. Companion?</a:t>
            </a:r>
          </a:p>
        </p:txBody>
      </p:sp>
      <p:sp>
        <p:nvSpPr>
          <p:cNvPr id="5" name="TextBox 4"/>
          <p:cNvSpPr txBox="1"/>
          <p:nvPr/>
        </p:nvSpPr>
        <p:spPr>
          <a:xfrm>
            <a:off x="640080" y="2560320"/>
            <a:ext cx="7315200" cy="3840480"/>
          </a:xfrm>
          <a:prstGeom prst="rect">
            <a:avLst/>
          </a:prstGeom>
          <a:noFill/>
        </p:spPr>
        <p:txBody>
          <a:bodyPr wrap="square">
            <a:spAutoFit/>
          </a:bodyPr>
          <a:lstStyle/>
          <a:p>
            <a:pPr/>
            <a:r>
              <a:t>New products are being developed in an attempt to reduce loneliness and bolster cognition.</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400"/>
              <a:t>MIT Learn offers “a whole new front door to the Institute”</a:t>
            </a:r>
          </a:p>
        </p:txBody>
      </p:sp>
      <p:sp>
        <p:nvSpPr>
          <p:cNvPr id="3" name="Text Placeholder 2"/>
          <p:cNvSpPr>
            <a:spLocks noGrp="1"/>
          </p:cNvSpPr>
          <p:nvPr>
            <p:ph type="body" idx="1"/>
          </p:nvPr>
        </p:nvSpPr>
        <p:spPr/>
        <p:txBody>
          <a:bodyPr/>
          <a:lstStyle/>
          <a:p/>
        </p:txBody>
      </p:sp>
      <p:sp>
        <p:nvSpPr>
          <p:cNvPr id="4" name="TextBox 3"/>
          <p:cNvSpPr txBox="1"/>
          <p:nvPr/>
        </p:nvSpPr>
        <p:spPr>
          <a:xfrm>
            <a:off x="640080" y="1737360"/>
            <a:ext cx="7315200" cy="640080"/>
          </a:xfrm>
          <a:prstGeom prst="rect">
            <a:avLst/>
          </a:prstGeom>
          <a:noFill/>
        </p:spPr>
        <p:txBody>
          <a:bodyPr wrap="square">
            <a:spAutoFit/>
          </a:bodyPr>
          <a:lstStyle/>
          <a:p>
            <a:r>
              <a:rPr sz="1600"/>
              <a:t>MIT Learn offers “a whole new front door to the Institute”</a:t>
            </a:r>
          </a:p>
        </p:txBody>
      </p:sp>
      <p:sp>
        <p:nvSpPr>
          <p:cNvPr id="5" name="TextBox 4"/>
          <p:cNvSpPr txBox="1"/>
          <p:nvPr/>
        </p:nvSpPr>
        <p:spPr>
          <a:xfrm>
            <a:off x="640080" y="2560320"/>
            <a:ext cx="7315200" cy="3840480"/>
          </a:xfrm>
          <a:prstGeom prst="rect">
            <a:avLst/>
          </a:prstGeom>
          <a:noFill/>
        </p:spPr>
        <p:txBody>
          <a:bodyPr wrap="square">
            <a:spAutoFit/>
          </a:bodyPr>
          <a:lstStyle/>
          <a:p>
            <a:pPr/>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6" name="TextBox 5"/>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