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mckinsey.com/capabilities/risk-and-resilience/our-insights/how-generative-ai-can-help-banks-manage-risk-and-complianc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iacpm.org/wp-content/uploads/2024/08/215pm_AI-and-Gen-AI-developments-in-Credit-Risk_SEE.pd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mckinsey.com/capabilities/risk-and-resilience/our-insights/embracing-generative-ai-in-credit-risk"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r>
              <a:rPr sz="3600" b="1"/>
              <a:t>Gen AI &amp; LLM Trends - 2025</a:t>
            </a:r>
          </a:p>
        </p:txBody>
      </p:sp>
      <p:sp>
        <p:nvSpPr>
          <p:cNvPr id="3" name="Subtitle 2"/>
          <p:cNvSpPr>
            <a:spLocks noGrp="1"/>
          </p:cNvSpPr>
          <p:nvPr>
            <p:ph type="subTitle" idx="1"/>
          </p:nvPr>
        </p:nvSpPr>
        <p:spPr/>
        <p:txBody>
          <a:bodyPr/>
          <a:lstStyle/>
          <a:p>
            <a:r>
              <a:t>Draft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wrap="square"/>
          <a:lstStyle/>
          <a:p>
            <a:r>
              <a:t>Total articles: 3</a:t>
            </a:r>
          </a:p>
          <a:p>
            <a:pPr lvl="1"/>
            <a:r>
              <a:t>Uncategorized: 0</a:t>
            </a:r>
          </a:p>
          <a:p>
            <a:pPr lvl="1"/>
            <a:r>
              <a:t>AI &amp; GenAI Trends: 0</a:t>
            </a:r>
          </a:p>
          <a:p>
            <a:pPr lvl="1"/>
            <a:r>
              <a:t>AI in Financial Institutions: 3</a:t>
            </a:r>
          </a:p>
          <a:p>
            <a:pPr lvl="1"/>
            <a:r>
              <a:t>Leading AI Innovators: 0</a:t>
            </a:r>
          </a:p>
          <a:p>
            <a:pPr lvl="1"/>
            <a:r>
              <a:t>Agentic AI: 0</a:t>
            </a:r>
          </a:p>
          <a:p>
            <a:pPr lvl="1"/>
            <a:r>
              <a:t>Broader AI Topics: 0</a:t>
            </a:r>
          </a:p>
          <a:p>
            <a:pPr lvl="1"/>
            <a:r>
              <a:t>Tech Corner: 0</a:t>
            </a:r>
          </a:p>
          <a:p>
            <a:pPr lvl="1"/>
            <a:r>
              <a:t>AI Beyond Finance: 0</a:t>
            </a:r>
          </a:p>
        </p:txBody>
      </p:sp>
      <p:sp>
        <p:nvSpPr>
          <p:cNvPr id="4" name="TextBox 3"/>
          <p:cNvSpPr txBox="1"/>
          <p:nvPr/>
        </p:nvSpPr>
        <p:spPr>
          <a:xfrm>
            <a:off x="640080" y="365760"/>
            <a:ext cx="7772400" cy="1097280"/>
          </a:xfrm>
          <a:prstGeom prst="rect">
            <a:avLst/>
          </a:prstGeom>
          <a:noFill/>
        </p:spPr>
        <p:txBody>
          <a:bodyPr wrap="square">
            <a:spAutoFit/>
          </a:bodyPr>
          <a:lstStyle/>
          <a:p>
            <a:r>
              <a:rPr sz="3600" b="1"/>
              <a:t>Executive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How generative AI can help banks manage risk and compliance</a:t>
            </a:r>
          </a:p>
        </p:txBody>
      </p:sp>
      <p:sp>
        <p:nvSpPr>
          <p:cNvPr id="5" name="TextBox 4"/>
          <p:cNvSpPr txBox="1"/>
          <p:nvPr/>
        </p:nvSpPr>
        <p:spPr>
          <a:xfrm>
            <a:off x="640080" y="1828799"/>
            <a:ext cx="7315200" cy="731520"/>
          </a:xfrm>
          <a:prstGeom prst="rect">
            <a:avLst/>
          </a:prstGeom>
          <a:noFill/>
        </p:spPr>
        <p:txBody>
          <a:bodyPr wrap="square">
            <a:spAutoFit/>
          </a:bodyPr>
          <a:lstStyle/>
          <a:p>
            <a:r>
              <a:rPr sz="1600"/>
              <a:t>How generative AI can help banks manage risk and compliance</a:t>
            </a:r>
          </a:p>
        </p:txBody>
      </p:sp>
      <p:sp>
        <p:nvSpPr>
          <p:cNvPr id="6" name="TextBox 5"/>
          <p:cNvSpPr txBox="1"/>
          <p:nvPr/>
        </p:nvSpPr>
        <p:spPr>
          <a:xfrm>
            <a:off x="640080" y="2651760"/>
            <a:ext cx="7315200" cy="3840480"/>
          </a:xfrm>
          <a:prstGeom prst="rect">
            <a:avLst/>
          </a:prstGeom>
          <a:noFill/>
        </p:spPr>
        <p:txBody>
          <a:bodyPr wrap="square">
            <a:spAutoFit/>
          </a:bodyPr>
          <a:lstStyle/>
          <a:p>
            <a:pPr/>
            <a:r>
              <a:t>Generative AI can significantly enhance operational risk management by automating control processes in banks. This technology can streamline operations, reduce human error, and improve efficiency in managing risks. By leveraging AI, banks can ensure more robust and reliable operational frameworks.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mckinsey.com/capabilities/risk-and-resilience/our-insights/how-generative-ai-can-help-banks-manage-risk-and-compliance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AI and Gen AI developments in Credit Risk Management</a:t>
            </a:r>
          </a:p>
        </p:txBody>
      </p:sp>
      <p:sp>
        <p:nvSpPr>
          <p:cNvPr id="5" name="TextBox 4"/>
          <p:cNvSpPr txBox="1"/>
          <p:nvPr/>
        </p:nvSpPr>
        <p:spPr>
          <a:xfrm>
            <a:off x="640080" y="1828799"/>
            <a:ext cx="7315200" cy="731520"/>
          </a:xfrm>
          <a:prstGeom prst="rect">
            <a:avLst/>
          </a:prstGeom>
          <a:noFill/>
        </p:spPr>
        <p:txBody>
          <a:bodyPr wrap="square">
            <a:spAutoFit/>
          </a:bodyPr>
          <a:lstStyle/>
          <a:p>
            <a:r>
              <a:rPr sz="1600"/>
              <a:t>AI and Gen AI developments in Credit Risk Management</a:t>
            </a:r>
          </a:p>
        </p:txBody>
      </p:sp>
      <p:sp>
        <p:nvSpPr>
          <p:cNvPr id="6" name="TextBox 5"/>
          <p:cNvSpPr txBox="1"/>
          <p:nvPr/>
        </p:nvSpPr>
        <p:spPr>
          <a:xfrm>
            <a:off x="640080" y="2651760"/>
            <a:ext cx="7315200" cy="3840480"/>
          </a:xfrm>
          <a:prstGeom prst="rect">
            <a:avLst/>
          </a:prstGeom>
          <a:noFill/>
        </p:spPr>
        <p:txBody>
          <a:bodyPr wrap="square">
            <a:spAutoFit/>
          </a:bodyPr>
          <a:lstStyle/>
          <a:p>
            <a:pPr/>
            <a:r>
              <a:t>The article discusses the integration of AI and GenAI applications in credit risk management, focusing on areas such as decision-making and risk monitoring. It highlights the initial phase, referred to as Wave 1, which involves improving processes like customer targeting. The adoption of these technologies aims to enhance efficiency and accuracy in managing credit risks.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iacpm.org/wp-content/uploads/2024/08/215pm_AI-and-Gen-AI-developments-in-Credit-Risk_SEE.pdf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1097280"/>
          </a:xfrm>
          <a:prstGeom prst="rect">
            <a:avLst/>
          </a:prstGeom>
          <a:noFill/>
        </p:spPr>
        <p:txBody>
          <a:bodyPr wrap="square">
            <a:spAutoFit/>
          </a:bodyPr>
          <a:lstStyle/>
          <a:p>
            <a:r>
              <a:rPr sz="3200" b="1"/>
              <a:t>Embracing generative AI in credit risk - McKinsey</a:t>
            </a:r>
          </a:p>
        </p:txBody>
      </p:sp>
      <p:sp>
        <p:nvSpPr>
          <p:cNvPr id="5" name="TextBox 4"/>
          <p:cNvSpPr txBox="1"/>
          <p:nvPr/>
        </p:nvSpPr>
        <p:spPr>
          <a:xfrm>
            <a:off x="640080" y="1828799"/>
            <a:ext cx="7315200" cy="731520"/>
          </a:xfrm>
          <a:prstGeom prst="rect">
            <a:avLst/>
          </a:prstGeom>
          <a:noFill/>
        </p:spPr>
        <p:txBody>
          <a:bodyPr wrap="square">
            <a:spAutoFit/>
          </a:bodyPr>
          <a:lstStyle/>
          <a:p>
            <a:r>
              <a:rPr sz="1600"/>
              <a:t>Embracing generative AI in credit risk - McKinsey</a:t>
            </a:r>
          </a:p>
        </p:txBody>
      </p:sp>
      <p:sp>
        <p:nvSpPr>
          <p:cNvPr id="6" name="TextBox 5"/>
          <p:cNvSpPr txBox="1"/>
          <p:nvPr/>
        </p:nvSpPr>
        <p:spPr>
          <a:xfrm>
            <a:off x="640080" y="2651760"/>
            <a:ext cx="7315200" cy="3840480"/>
          </a:xfrm>
          <a:prstGeom prst="rect">
            <a:avLst/>
          </a:prstGeom>
          <a:noFill/>
        </p:spPr>
        <p:txBody>
          <a:bodyPr wrap="square">
            <a:spAutoFit/>
          </a:bodyPr>
          <a:lstStyle/>
          <a:p>
            <a:pPr/>
            <a:r>
              <a:t>The article discusses how various executives are integrating generative AI (gen AI) into their organizations, particularly highlighting its transformative impact on credit risk management. By adopting gen AI, these organizations are setting new standards of excellence, leveraging advanced data analysis to enhance decision-making processes. The executives emphasize the potential of gen AI to revolutionize traditional practices, offering more accurate and efficient solutions in the financial sector.</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mckinsey.com/capabilities/risk-and-resilience/our-insights/embracing-generative-ai-in-credit-risk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