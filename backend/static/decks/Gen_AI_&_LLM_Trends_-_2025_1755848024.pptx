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loud.google.com/transform/101-real-world-generative-ai-use-cases-from-industry-leader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research.aimultiple.com/generative-ai-finance/"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euroclear.com/newsandinsights/en/Format/Articles/taking-ai-to-the-next-level.html"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linkedin.com/pulse/ai-trade-matching-confirmation-generation-t1-saumyajit-ghosh-og6zc"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broadridge.com/_assets/pdf/broadridge-capital-markets-operations-reimagined-with-generative-ai.pdf"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r>
              <a:rPr sz="3600" b="1"/>
              <a:t>Gen AI &amp; LLM Trends - 2025</a:t>
            </a:r>
          </a:p>
        </p:txBody>
      </p:sp>
      <p:sp>
        <p:nvSpPr>
          <p:cNvPr id="3" name="Subtitle 2"/>
          <p:cNvSpPr>
            <a:spLocks noGrp="1"/>
          </p:cNvSpPr>
          <p:nvPr>
            <p:ph type="subTitle" idx="1"/>
          </p:nvPr>
        </p:nvSpPr>
        <p:spPr/>
        <p:txBody>
          <a:bodyPr/>
          <a:lstStyle/>
          <a:p>
            <a:r>
              <a:t>Draft deck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p:txBody>
      </p:sp>
      <p:sp>
        <p:nvSpPr>
          <p:cNvPr id="3" name="Text Placeholder 2"/>
          <p:cNvSpPr>
            <a:spLocks noGrp="1"/>
          </p:cNvSpPr>
          <p:nvPr>
            <p:ph type="body" idx="1"/>
          </p:nvPr>
        </p:nvSpPr>
        <p:spPr/>
        <p:txBody>
          <a:bodyPr wrap="square"/>
          <a:lstStyle/>
          <a:p>
            <a:r>
              <a:t>Total articles: 5</a:t>
            </a:r>
          </a:p>
          <a:p>
            <a:pPr lvl="1"/>
            <a:r>
              <a:t>Uncategorized: 0</a:t>
            </a:r>
          </a:p>
          <a:p>
            <a:pPr lvl="1"/>
            <a:r>
              <a:t>AI &amp; GenAI Trends: 0</a:t>
            </a:r>
          </a:p>
          <a:p>
            <a:pPr lvl="1"/>
            <a:r>
              <a:t>AI in Financial Institutions: 5</a:t>
            </a:r>
          </a:p>
          <a:p>
            <a:pPr lvl="1"/>
            <a:r>
              <a:t>Leading AI Innovators: 0</a:t>
            </a:r>
          </a:p>
          <a:p>
            <a:pPr lvl="1"/>
            <a:r>
              <a:t>Agentic AI: 0</a:t>
            </a:r>
          </a:p>
          <a:p>
            <a:pPr lvl="1"/>
            <a:r>
              <a:t>Broader AI Topics: 0</a:t>
            </a:r>
          </a:p>
          <a:p>
            <a:pPr lvl="1"/>
            <a:r>
              <a:t>Tech Corner: 0</a:t>
            </a:r>
          </a:p>
          <a:p>
            <a:pPr lvl="1"/>
            <a:r>
              <a:t>AI Beyond Finance: 0</a:t>
            </a:r>
          </a:p>
        </p:txBody>
      </p:sp>
      <p:sp>
        <p:nvSpPr>
          <p:cNvPr id="4" name="TextBox 3"/>
          <p:cNvSpPr txBox="1"/>
          <p:nvPr/>
        </p:nvSpPr>
        <p:spPr>
          <a:xfrm>
            <a:off x="640080" y="365760"/>
            <a:ext cx="7772400" cy="1097280"/>
          </a:xfrm>
          <a:prstGeom prst="rect">
            <a:avLst/>
          </a:prstGeom>
          <a:noFill/>
        </p:spPr>
        <p:txBody>
          <a:bodyPr wrap="square">
            <a:spAutoFit/>
          </a:bodyPr>
          <a:lstStyle/>
          <a:p>
            <a:r>
              <a:rPr sz="3600" b="1"/>
              <a:t>Executive Summary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Real-world gen AI use cases from the world's leading ...</a:t>
            </a:r>
          </a:p>
        </p:txBody>
      </p:sp>
      <p:sp>
        <p:nvSpPr>
          <p:cNvPr id="3" name="TextBox 2"/>
          <p:cNvSpPr txBox="1"/>
          <p:nvPr/>
        </p:nvSpPr>
        <p:spPr>
          <a:xfrm>
            <a:off x="640080" y="1828799"/>
            <a:ext cx="7315200" cy="731520"/>
          </a:xfrm>
          <a:prstGeom prst="rect">
            <a:avLst/>
          </a:prstGeom>
          <a:noFill/>
        </p:spPr>
        <p:txBody>
          <a:bodyPr wrap="square">
            <a:spAutoFit/>
          </a:bodyPr>
          <a:lstStyle/>
          <a:p>
            <a:r>
              <a:rPr sz="1600"/>
              <a:t>Real-world gen AI use cases from the world's leading ...</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discusses the rapid adoption and implementation of generative AI (gen AI) solutions by leading organizations worldwide, facilitated by Google's AI technologies. Over the past year, the number of real-world gen AI use cases has grown from 101 to 601, highlighting the technology's expanding influence across various sectors such as automotive, finance, healthcare, and retail. Companies like Wendy's, Mercedes Benz, and Citi are leveraging AI for enhanced customer service, operational efficiency, and fraud detection. The article emphasizes the transformative potential of AI in creating value and improving productivity across industries.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cloud.google.com/transform/101-real-world-generative-ai-use-cases-from-industry-leaders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Top 25 Generative AI Finance Use Cases &amp; Case Studies</a:t>
            </a:r>
          </a:p>
        </p:txBody>
      </p:sp>
      <p:sp>
        <p:nvSpPr>
          <p:cNvPr id="3" name="TextBox 2"/>
          <p:cNvSpPr txBox="1"/>
          <p:nvPr/>
        </p:nvSpPr>
        <p:spPr>
          <a:xfrm>
            <a:off x="640080" y="1828799"/>
            <a:ext cx="7315200" cy="731520"/>
          </a:xfrm>
          <a:prstGeom prst="rect">
            <a:avLst/>
          </a:prstGeom>
          <a:noFill/>
        </p:spPr>
        <p:txBody>
          <a:bodyPr wrap="square">
            <a:spAutoFit/>
          </a:bodyPr>
          <a:lstStyle/>
          <a:p>
            <a:r>
              <a:rPr sz="1600"/>
              <a:t>Top 25 Generative AI Finance Use Cases &amp; Case Studies</a:t>
            </a:r>
          </a:p>
        </p:txBody>
      </p:sp>
      <p:sp>
        <p:nvSpPr>
          <p:cNvPr id="4" name="TextBox 3"/>
          <p:cNvSpPr txBox="1"/>
          <p:nvPr/>
        </p:nvSpPr>
        <p:spPr>
          <a:xfrm>
            <a:off x="640080" y="2651760"/>
            <a:ext cx="7315200" cy="3840480"/>
          </a:xfrm>
          <a:prstGeom prst="rect">
            <a:avLst/>
          </a:prstGeom>
          <a:noFill/>
        </p:spPr>
        <p:txBody>
          <a:bodyPr wrap="square">
            <a:spAutoFit/>
          </a:bodyPr>
          <a:lstStyle/>
          <a:p>
            <a:pPr/>
            <a:r>
              <a:t>Generative AI is transforming the finance industry by automating routine tasks, enhancing customer interactions, and improving risk management. Key applications include automating accounting functions, conversational finance, generating user-friendly denial explanations, and maintaining legacy software. Financial institutions like Morgan Stanley and Goldman Sachs are leveraging AI for tasks such as fraud detection, financial analysis, and portfolio management. The banking industry is projected to spend $84.99 billion on generative AI by 2030, with significant value addition expected from increased productivity.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research.aimultiple.com/generative-ai-finance/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600" b="1"/>
              <a:t>Taking AI to the next level</a:t>
            </a:r>
          </a:p>
        </p:txBody>
      </p:sp>
      <p:sp>
        <p:nvSpPr>
          <p:cNvPr id="3" name="TextBox 2"/>
          <p:cNvSpPr txBox="1"/>
          <p:nvPr/>
        </p:nvSpPr>
        <p:spPr>
          <a:xfrm>
            <a:off x="640080" y="1828799"/>
            <a:ext cx="7315200" cy="731520"/>
          </a:xfrm>
          <a:prstGeom prst="rect">
            <a:avLst/>
          </a:prstGeom>
          <a:noFill/>
        </p:spPr>
        <p:txBody>
          <a:bodyPr wrap="square">
            <a:spAutoFit/>
          </a:bodyPr>
          <a:lstStyle/>
          <a:p>
            <a:r>
              <a:rPr sz="1600"/>
              <a:t>Taking AI to the next level</a:t>
            </a:r>
          </a:p>
        </p:txBody>
      </p:sp>
      <p:sp>
        <p:nvSpPr>
          <p:cNvPr id="4" name="TextBox 3"/>
          <p:cNvSpPr txBox="1"/>
          <p:nvPr/>
        </p:nvSpPr>
        <p:spPr>
          <a:xfrm>
            <a:off x="640080" y="2651760"/>
            <a:ext cx="7315200" cy="3840480"/>
          </a:xfrm>
          <a:prstGeom prst="rect">
            <a:avLst/>
          </a:prstGeom>
          <a:noFill/>
        </p:spPr>
        <p:txBody>
          <a:bodyPr wrap="square">
            <a:spAutoFit/>
          </a:bodyPr>
          <a:lstStyle/>
          <a:p>
            <a:pPr/>
            <a:r>
              <a:t>The article discusses how AI technologies such as machine learning, robotic process automation (RPA), and generative AI are revolutionizing post-trade processes by enhancing efficiency and accuracy. However, it also highlights the potential risks associated with these technologies, including the dangers of flawed data and the consequences of over-reliance on AI systems. Effective management and mitigation strategies are necessary to address these challenges and ensure the successful integration of AI in post-trade operations.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euroclear.com/newsandinsights/en/Format/Articles/taking-ai-to-the-next-level.html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AI in Trade Matching and Confirmation Generation for T+1</a:t>
            </a:r>
          </a:p>
        </p:txBody>
      </p:sp>
      <p:sp>
        <p:nvSpPr>
          <p:cNvPr id="3" name="TextBox 2"/>
          <p:cNvSpPr txBox="1"/>
          <p:nvPr/>
        </p:nvSpPr>
        <p:spPr>
          <a:xfrm>
            <a:off x="640080" y="1828799"/>
            <a:ext cx="7315200" cy="731520"/>
          </a:xfrm>
          <a:prstGeom prst="rect">
            <a:avLst/>
          </a:prstGeom>
          <a:noFill/>
        </p:spPr>
        <p:txBody>
          <a:bodyPr wrap="square">
            <a:spAutoFit/>
          </a:bodyPr>
          <a:lstStyle/>
          <a:p>
            <a:r>
              <a:rPr sz="1600"/>
              <a:t>AI in Trade Matching and Confirmation Generation for T+1</a:t>
            </a:r>
          </a:p>
        </p:txBody>
      </p:sp>
      <p:sp>
        <p:nvSpPr>
          <p:cNvPr id="4" name="TextBox 3"/>
          <p:cNvSpPr txBox="1"/>
          <p:nvPr/>
        </p:nvSpPr>
        <p:spPr>
          <a:xfrm>
            <a:off x="640080" y="2651760"/>
            <a:ext cx="7315200" cy="3840480"/>
          </a:xfrm>
          <a:prstGeom prst="rect">
            <a:avLst/>
          </a:prstGeom>
          <a:noFill/>
        </p:spPr>
        <p:txBody>
          <a:bodyPr wrap="square">
            <a:spAutoFit/>
          </a:bodyPr>
          <a:lstStyle/>
          <a:p>
            <a:pPr/>
            <a:r>
              <a:t>AI can significantly enhance the efficiency and effectiveness of achieving T+1 settlement in the financial industry by improving trade matching and confirmation processes. AI-driven solutions enable real-time data processing, error detection, and automation, which are crucial for ensuring accuracy and risk mitigation before settlement. These solutions include AI-powered matching engines, dynamic template systems, and integration with smart contracts and blockchain for transparency and compliance. By leveraging technologies such as NLP, machine learning, and distributed ledger technology, financial organizations can handle high volumes of trades, reduce manual errors, and meet regulatory requirements efficiently.</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linkedin.com/pulse/ai-trade-matching-confirmation-generation-t1-saumyajit-ghosh-og6zc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40080" y="548640"/>
            <a:ext cx="7772400" cy="1097280"/>
          </a:xfrm>
          <a:prstGeom prst="rect">
            <a:avLst/>
          </a:prstGeom>
          <a:noFill/>
        </p:spPr>
        <p:txBody>
          <a:bodyPr wrap="square">
            <a:spAutoFit/>
          </a:bodyPr>
          <a:lstStyle/>
          <a:p>
            <a:r>
              <a:rPr sz="3200" b="1"/>
              <a:t>Capital Markets Operations Reimagined with Generative AI</a:t>
            </a:r>
          </a:p>
        </p:txBody>
      </p:sp>
      <p:sp>
        <p:nvSpPr>
          <p:cNvPr id="3" name="TextBox 2"/>
          <p:cNvSpPr txBox="1"/>
          <p:nvPr/>
        </p:nvSpPr>
        <p:spPr>
          <a:xfrm>
            <a:off x="640080" y="1828799"/>
            <a:ext cx="7315200" cy="731520"/>
          </a:xfrm>
          <a:prstGeom prst="rect">
            <a:avLst/>
          </a:prstGeom>
          <a:noFill/>
        </p:spPr>
        <p:txBody>
          <a:bodyPr wrap="square">
            <a:spAutoFit/>
          </a:bodyPr>
          <a:lstStyle/>
          <a:p>
            <a:r>
              <a:rPr sz="1600"/>
              <a:t>Capital Markets Operations Reimagined with Generative AI</a:t>
            </a:r>
          </a:p>
        </p:txBody>
      </p:sp>
      <p:sp>
        <p:nvSpPr>
          <p:cNvPr id="4" name="TextBox 3"/>
          <p:cNvSpPr txBox="1"/>
          <p:nvPr/>
        </p:nvSpPr>
        <p:spPr>
          <a:xfrm>
            <a:off x="640080" y="2651760"/>
            <a:ext cx="7315200" cy="3840480"/>
          </a:xfrm>
          <a:prstGeom prst="rect">
            <a:avLst/>
          </a:prstGeom>
          <a:noFill/>
        </p:spPr>
        <p:txBody>
          <a:bodyPr wrap="square">
            <a:spAutoFit/>
          </a:bodyPr>
          <a:lstStyle/>
          <a:p>
            <a:pPr/>
            <a:r>
              <a:t>Generative AI has the potential to enhance operational efficiency by up to 50% in areas affected by T+1, while also addressing challenges such as risk and rising costs. This technology can streamline processes, reduce manual intervention, and improve accuracy, leading to significant improvements in productivity. By integrating Generative AI, organizations can better navigate the complexities associated with T+1 transitions.</a:t>
            </a:r>
          </a:p>
        </p:txBody>
      </p:sp>
      <p:sp>
        <p:nvSpPr>
          <p:cNvPr id="5" name="TextBox 4"/>
          <p:cNvSpPr txBox="1"/>
          <p:nvPr/>
        </p:nvSpPr>
        <p:spPr>
          <a:xfrm>
            <a:off x="457200" y="6263640"/>
            <a:ext cx="8229600" cy="320040"/>
          </a:xfrm>
          <a:prstGeom prst="rect">
            <a:avLst/>
          </a:prstGeom>
          <a:noFill/>
        </p:spPr>
        <p:txBody>
          <a:bodyPr wrap="none">
            <a:spAutoFit/>
          </a:bodyPr>
          <a:lstStyle/>
          <a:p>
            <a:r>
              <a:rPr sz="1000" i="1">
                <a:solidFill>
                  <a:srgbClr val="0066CC"/>
                </a:solidFill>
                <a:hlinkClick r:id="rId2"/>
              </a:rPr>
              <a:t>Source: broadridge.com/_assets/pdf/broadridge-capital-markets-operations-reimagined-with-generative-ai.pdf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