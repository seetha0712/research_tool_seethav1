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deloitte.com/us/en/services/consulting/articles/using-ai-in-finance-and-controls.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smartdev.com/ai-use-cases-in-finance-function/"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oracle.com/erp/financials/ai-finance/"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kpmg.com/us/en/articles/2023/generative-ai-finance.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wolterskluwer.com/en/expert-insights/for-financial-institutions-generative-ai-integration-starts-now"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mckinsey.com/capabilities/strategy-and-corporate-finance/our-insights/gen-ai-a-guide-for-cfo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cloud.google.com/blog/topics/financial-services/five-generative-ai-use-cases-financial-services-industry"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bcg.com/publications/2023/generative-ai-in-finance-and-accounting"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r>
              <a:rPr sz="3600" b="1"/>
              <a:t>Gen AI &amp; LLM Trends - 2025</a:t>
            </a:r>
          </a:p>
        </p:txBody>
      </p:sp>
      <p:sp>
        <p:nvSpPr>
          <p:cNvPr id="3" name="Subtitle 2"/>
          <p:cNvSpPr>
            <a:spLocks noGrp="1"/>
          </p:cNvSpPr>
          <p:nvPr>
            <p:ph type="subTitle" idx="1"/>
          </p:nvPr>
        </p:nvSpPr>
        <p:spPr/>
        <p:txBody>
          <a:bodyPr/>
          <a:lstStyle/>
          <a:p>
            <a:r>
              <a:t>Draft 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wrap="square"/>
          <a:lstStyle/>
          <a:p>
            <a:r>
              <a:t>Total articles: 8</a:t>
            </a:r>
          </a:p>
          <a:p>
            <a:pPr lvl="1"/>
            <a:r>
              <a:t>Uncategorized: 0</a:t>
            </a:r>
          </a:p>
          <a:p>
            <a:pPr lvl="1"/>
            <a:r>
              <a:t>AI &amp; GenAI Trends: 0</a:t>
            </a:r>
          </a:p>
          <a:p>
            <a:pPr lvl="1"/>
            <a:r>
              <a:t>AI in Financial Institutions: 8</a:t>
            </a:r>
          </a:p>
          <a:p>
            <a:pPr lvl="1"/>
            <a:r>
              <a:t>Leading AI Innovators: 0</a:t>
            </a:r>
          </a:p>
          <a:p>
            <a:pPr lvl="1"/>
            <a:r>
              <a:t>Agentic AI: 0</a:t>
            </a:r>
          </a:p>
          <a:p>
            <a:pPr lvl="1"/>
            <a:r>
              <a:t>Broader AI Topics: 0</a:t>
            </a:r>
          </a:p>
          <a:p>
            <a:pPr lvl="1"/>
            <a:r>
              <a:t>Tech Corner: 0</a:t>
            </a:r>
          </a:p>
          <a:p>
            <a:pPr lvl="1"/>
            <a:r>
              <a:t>AI Beyond Finance: 0</a:t>
            </a:r>
          </a:p>
        </p:txBody>
      </p:sp>
      <p:sp>
        <p:nvSpPr>
          <p:cNvPr id="4" name="TextBox 3"/>
          <p:cNvSpPr txBox="1"/>
          <p:nvPr/>
        </p:nvSpPr>
        <p:spPr>
          <a:xfrm>
            <a:off x="640080" y="365760"/>
            <a:ext cx="7772400" cy="1097280"/>
          </a:xfrm>
          <a:prstGeom prst="rect">
            <a:avLst/>
          </a:prstGeom>
          <a:noFill/>
        </p:spPr>
        <p:txBody>
          <a:bodyPr wrap="square">
            <a:spAutoFit/>
          </a:bodyPr>
          <a:lstStyle/>
          <a:p>
            <a:r>
              <a:rPr sz="3600" b="1"/>
              <a:t>Executive Summary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3200" b="1"/>
              <a:t>Controlling AI: Using AI in Finance and Controls</a:t>
            </a:r>
          </a:p>
        </p:txBody>
      </p:sp>
      <p:sp>
        <p:nvSpPr>
          <p:cNvPr id="5" name="TextBox 4"/>
          <p:cNvSpPr txBox="1"/>
          <p:nvPr/>
        </p:nvSpPr>
        <p:spPr>
          <a:xfrm>
            <a:off x="640080" y="1828799"/>
            <a:ext cx="7315200" cy="731520"/>
          </a:xfrm>
          <a:prstGeom prst="rect">
            <a:avLst/>
          </a:prstGeom>
          <a:noFill/>
        </p:spPr>
        <p:txBody>
          <a:bodyPr wrap="square">
            <a:spAutoFit/>
          </a:bodyPr>
          <a:lstStyle/>
          <a:p>
            <a:r>
              <a:rPr sz="1600"/>
              <a:t>Controlling AI: Using AI in Finance and Controls</a:t>
            </a:r>
          </a:p>
        </p:txBody>
      </p:sp>
      <p:sp>
        <p:nvSpPr>
          <p:cNvPr id="6" name="TextBox 5"/>
          <p:cNvSpPr txBox="1"/>
          <p:nvPr/>
        </p:nvSpPr>
        <p:spPr>
          <a:xfrm>
            <a:off x="640080" y="2651760"/>
            <a:ext cx="7315200" cy="3840480"/>
          </a:xfrm>
          <a:prstGeom prst="rect">
            <a:avLst/>
          </a:prstGeom>
          <a:noFill/>
        </p:spPr>
        <p:txBody>
          <a:bodyPr wrap="square">
            <a:spAutoFit/>
          </a:bodyPr>
          <a:lstStyle/>
          <a:p>
            <a:pPr/>
            <a:r>
              <a:t>Generative AI (GenAI) is rapidly transforming the finance and accounting landscape, offering opportunities for efficiency but also posing risks that require robust AI risk management frameworks. These frameworks should include trust-focused AI operations, enterprise AI policies, and governance routines to manage AI risks and establish ethical practices. GenAI's foundation models, which create content across various modalities, present numerous use cases but also necessitate human-in-the-loop validation to ensure accuracy and reliability. Organizations must implement risk-based AI governance frameworks to manage potential inaccuracies and ensure the AI's output aligns with business objectives.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deloitte.com/us/en/services/consulting/articles/using-ai-in-finance-and-controls.html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3200" b="1"/>
              <a:t>AI in Finance Function: Top Use Cases You Need To Know</a:t>
            </a:r>
          </a:p>
        </p:txBody>
      </p:sp>
      <p:sp>
        <p:nvSpPr>
          <p:cNvPr id="5" name="TextBox 4"/>
          <p:cNvSpPr txBox="1"/>
          <p:nvPr/>
        </p:nvSpPr>
        <p:spPr>
          <a:xfrm>
            <a:off x="640080" y="1828799"/>
            <a:ext cx="7315200" cy="731520"/>
          </a:xfrm>
          <a:prstGeom prst="rect">
            <a:avLst/>
          </a:prstGeom>
          <a:noFill/>
        </p:spPr>
        <p:txBody>
          <a:bodyPr wrap="square">
            <a:spAutoFit/>
          </a:bodyPr>
          <a:lstStyle/>
          <a:p>
            <a:r>
              <a:rPr sz="1600"/>
              <a:t>AI in Finance Function: Top Use Cases You Need To Know</a:t>
            </a:r>
          </a:p>
        </p:txBody>
      </p:sp>
      <p:sp>
        <p:nvSpPr>
          <p:cNvPr id="6" name="TextBox 5"/>
          <p:cNvSpPr txBox="1"/>
          <p:nvPr/>
        </p:nvSpPr>
        <p:spPr>
          <a:xfrm>
            <a:off x="640080" y="2651760"/>
            <a:ext cx="7315200" cy="3840480"/>
          </a:xfrm>
          <a:prstGeom prst="rect">
            <a:avLst/>
          </a:prstGeom>
          <a:noFill/>
        </p:spPr>
        <p:txBody>
          <a:bodyPr wrap="square">
            <a:spAutoFit/>
          </a:bodyPr>
          <a:lstStyle/>
          <a:p>
            <a:pPr/>
            <a:r>
              <a:t>AI is revolutionizing the finance sector by automating routine tasks, enhancing predictive analytics, and transforming finance functions into strategic partners. Key applications include AI-powered invoice processing, predictive cash flow forecasting, and intelligent expense management, which improve efficiency and accuracy. According to a 2023 Gartner report, 80% of CFOs plan to increase AI investments by 2026, with AI in finance expected to reach $64.03 billion by 2030. Real-world examples, such as PepsiCo's use of AI for invoice processing and PayPal's fraud detection system, demonstrate significant time and cost savings.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smartdev.com/ai-use-cases-in-finance-function/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3600" b="1"/>
              <a:t>How AI is Transforming Finance</a:t>
            </a:r>
          </a:p>
        </p:txBody>
      </p:sp>
      <p:sp>
        <p:nvSpPr>
          <p:cNvPr id="5" name="TextBox 4"/>
          <p:cNvSpPr txBox="1"/>
          <p:nvPr/>
        </p:nvSpPr>
        <p:spPr>
          <a:xfrm>
            <a:off x="640080" y="1828799"/>
            <a:ext cx="7315200" cy="731520"/>
          </a:xfrm>
          <a:prstGeom prst="rect">
            <a:avLst/>
          </a:prstGeom>
          <a:noFill/>
        </p:spPr>
        <p:txBody>
          <a:bodyPr wrap="square">
            <a:spAutoFit/>
          </a:bodyPr>
          <a:lstStyle/>
          <a:p>
            <a:r>
              <a:rPr sz="1600"/>
              <a:t>How AI is Transforming Finance</a:t>
            </a:r>
          </a:p>
        </p:txBody>
      </p:sp>
      <p:sp>
        <p:nvSpPr>
          <p:cNvPr id="6" name="TextBox 5"/>
          <p:cNvSpPr txBox="1"/>
          <p:nvPr/>
        </p:nvSpPr>
        <p:spPr>
          <a:xfrm>
            <a:off x="640080" y="2651760"/>
            <a:ext cx="7315200" cy="3840480"/>
          </a:xfrm>
          <a:prstGeom prst="rect">
            <a:avLst/>
          </a:prstGeom>
          <a:noFill/>
        </p:spPr>
        <p:txBody>
          <a:bodyPr wrap="square">
            <a:spAutoFit/>
          </a:bodyPr>
          <a:lstStyle/>
          <a:p>
            <a:pPr/>
            <a:r>
              <a:t>The article discusses the transformative impact of generative AI (GenAI) on the finance sector, highlighting its potential to enhance productivity, accuracy, and speed in financial operations. According to a Deloitte CFO Signals survey, 70% of CFOs anticipate productivity increases of 1% to 10% from AI implementation, with 13% expecting gains over 10%. AI applications in finance include financial forecasting, cash flow optimization, regulatory compliance, and automation of routine tasks. The main challenges to AI adoption are technical skills and fluency, cited by 65% and 53% of CFOs, respectively. AI's integration into finance is expected to shift the focus from manual tasks to strategic analysis, with AI-driven tools enhancing decision-making, efficiency, and customer experience.</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oracle.com/erp/financials/ai-finance/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3200" b="1"/>
              <a:t>Supercharge your Finance workforce with GenAI</a:t>
            </a:r>
          </a:p>
        </p:txBody>
      </p:sp>
      <p:sp>
        <p:nvSpPr>
          <p:cNvPr id="5" name="TextBox 4"/>
          <p:cNvSpPr txBox="1"/>
          <p:nvPr/>
        </p:nvSpPr>
        <p:spPr>
          <a:xfrm>
            <a:off x="640080" y="1828799"/>
            <a:ext cx="7315200" cy="731520"/>
          </a:xfrm>
          <a:prstGeom prst="rect">
            <a:avLst/>
          </a:prstGeom>
          <a:noFill/>
        </p:spPr>
        <p:txBody>
          <a:bodyPr wrap="square">
            <a:spAutoFit/>
          </a:bodyPr>
          <a:lstStyle/>
          <a:p>
            <a:r>
              <a:rPr sz="1600"/>
              <a:t>Supercharge your Finance workforce with GenAI</a:t>
            </a:r>
          </a:p>
        </p:txBody>
      </p:sp>
      <p:sp>
        <p:nvSpPr>
          <p:cNvPr id="6" name="TextBox 5"/>
          <p:cNvSpPr txBox="1"/>
          <p:nvPr/>
        </p:nvSpPr>
        <p:spPr>
          <a:xfrm>
            <a:off x="640080" y="2651760"/>
            <a:ext cx="7315200" cy="3840480"/>
          </a:xfrm>
          <a:prstGeom prst="rect">
            <a:avLst/>
          </a:prstGeom>
          <a:noFill/>
        </p:spPr>
        <p:txBody>
          <a:bodyPr wrap="square">
            <a:spAutoFit/>
          </a:bodyPr>
          <a:lstStyle/>
          <a:p>
            <a:pPr/>
            <a:r>
              <a:t>Generative AI is transforming the finance sector by enhancing efficiency, accuracy, and adaptability in financial strategies and decision-making processes. A KPMG survey indicates that 83% of respondents are using AI for financial planning, including predictive models and budget insights. Generative AI applications in finance include developing forecasts, generating financial commentary, gathering market intelligence, producing strategic insights, managing contracts, and detecting anomalies or fraud. Despite its benefits, implementing generative AI requires addressing challenges such as security, reliability, and intellectual property protection while balancing urgency and risk awareness.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kpmg.com/us/en/articles/2023/generative-ai-finance.html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2800" b="1"/>
              <a:t>For financial institutions, generative AI integration starts now</a:t>
            </a:r>
          </a:p>
        </p:txBody>
      </p:sp>
      <p:sp>
        <p:nvSpPr>
          <p:cNvPr id="5" name="TextBox 4"/>
          <p:cNvSpPr txBox="1"/>
          <p:nvPr/>
        </p:nvSpPr>
        <p:spPr>
          <a:xfrm>
            <a:off x="640080" y="1828799"/>
            <a:ext cx="7315200" cy="731520"/>
          </a:xfrm>
          <a:prstGeom prst="rect">
            <a:avLst/>
          </a:prstGeom>
          <a:noFill/>
        </p:spPr>
        <p:txBody>
          <a:bodyPr wrap="square">
            <a:spAutoFit/>
          </a:bodyPr>
          <a:lstStyle/>
          <a:p>
            <a:r>
              <a:rPr sz="1600"/>
              <a:t>For financial institutions, generative AI integration starts now</a:t>
            </a:r>
          </a:p>
        </p:txBody>
      </p:sp>
      <p:sp>
        <p:nvSpPr>
          <p:cNvPr id="6" name="TextBox 5"/>
          <p:cNvSpPr txBox="1"/>
          <p:nvPr/>
        </p:nvSpPr>
        <p:spPr>
          <a:xfrm>
            <a:off x="640080" y="2651760"/>
            <a:ext cx="7315200" cy="3840480"/>
          </a:xfrm>
          <a:prstGeom prst="rect">
            <a:avLst/>
          </a:prstGeom>
          <a:noFill/>
        </p:spPr>
        <p:txBody>
          <a:bodyPr wrap="square">
            <a:spAutoFit/>
          </a:bodyPr>
          <a:lstStyle/>
          <a:p>
            <a:pPr/>
            <a:r>
              <a:t>Banks are increasingly leveraging customer data and generative AI (GenAI) to optimize services and enhance customer experiences, with over 50% of tech leaders in financial services exploring AI applications. GenAI is particularly valuable for risk and compliance professionals, helping them manage regulatory changes and automate manual tasks, with nearly 70% of financial leaders prioritizing technology investment for regulatory management. Staffing shortages and the need for efficiency drive the adoption of GenAI, which can automate tasks and augment human decision-making. However, successful GenAI integration requires careful planning and collaboration across business functions to address ethical and legal considerations and ensure data security.</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wolterskluwer.com/en/expert-insights/for-financial-institutions-generative-ai-integration-starts-now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3600" b="1"/>
              <a:t>Gen AI: A guide for CFOs</a:t>
            </a:r>
          </a:p>
        </p:txBody>
      </p:sp>
      <p:sp>
        <p:nvSpPr>
          <p:cNvPr id="5" name="TextBox 4"/>
          <p:cNvSpPr txBox="1"/>
          <p:nvPr/>
        </p:nvSpPr>
        <p:spPr>
          <a:xfrm>
            <a:off x="640080" y="1828799"/>
            <a:ext cx="7315200" cy="731520"/>
          </a:xfrm>
          <a:prstGeom prst="rect">
            <a:avLst/>
          </a:prstGeom>
          <a:noFill/>
        </p:spPr>
        <p:txBody>
          <a:bodyPr wrap="square">
            <a:spAutoFit/>
          </a:bodyPr>
          <a:lstStyle/>
          <a:p>
            <a:r>
              <a:rPr sz="1600"/>
              <a:t>Gen AI: A guide for CFOs</a:t>
            </a:r>
          </a:p>
        </p:txBody>
      </p:sp>
      <p:sp>
        <p:nvSpPr>
          <p:cNvPr id="6" name="TextBox 5"/>
          <p:cNvSpPr txBox="1"/>
          <p:nvPr/>
        </p:nvSpPr>
        <p:spPr>
          <a:xfrm>
            <a:off x="640080" y="2651760"/>
            <a:ext cx="7315200" cy="3840480"/>
          </a:xfrm>
          <a:prstGeom prst="rect">
            <a:avLst/>
          </a:prstGeom>
          <a:noFill/>
        </p:spPr>
        <p:txBody>
          <a:bodyPr wrap="square">
            <a:spAutoFit/>
          </a:bodyPr>
          <a:lstStyle/>
          <a:p>
            <a:pPr/>
            <a:r>
              <a:t>The article explores strategies for CFOs to implement generative AI across their organizations, focusing on the finance function. It emphasizes the importance of identifying and prioritizing specific use cases where AI can add the most value. Additionally, the article provides guidance on integrating AI into existing processes to enhance efficiency and decision-making.</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mckinsey.com/capabilities/strategy-and-corporate-finance/our-insights/gen-ai-a-guide-for-cfos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3200" b="1"/>
              <a:t>Five generative AI use cases for the financial services ...</a:t>
            </a:r>
          </a:p>
        </p:txBody>
      </p:sp>
      <p:sp>
        <p:nvSpPr>
          <p:cNvPr id="5" name="TextBox 4"/>
          <p:cNvSpPr txBox="1"/>
          <p:nvPr/>
        </p:nvSpPr>
        <p:spPr>
          <a:xfrm>
            <a:off x="640080" y="1828799"/>
            <a:ext cx="7315200" cy="731520"/>
          </a:xfrm>
          <a:prstGeom prst="rect">
            <a:avLst/>
          </a:prstGeom>
          <a:noFill/>
        </p:spPr>
        <p:txBody>
          <a:bodyPr wrap="square">
            <a:spAutoFit/>
          </a:bodyPr>
          <a:lstStyle/>
          <a:p>
            <a:r>
              <a:rPr sz="1600"/>
              <a:t>Five generative AI use cases for the financial services ...</a:t>
            </a:r>
          </a:p>
        </p:txBody>
      </p:sp>
      <p:sp>
        <p:nvSpPr>
          <p:cNvPr id="6" name="TextBox 5"/>
          <p:cNvSpPr txBox="1"/>
          <p:nvPr/>
        </p:nvSpPr>
        <p:spPr>
          <a:xfrm>
            <a:off x="640080" y="2651760"/>
            <a:ext cx="7315200" cy="3840480"/>
          </a:xfrm>
          <a:prstGeom prst="rect">
            <a:avLst/>
          </a:prstGeom>
          <a:noFill/>
        </p:spPr>
        <p:txBody>
          <a:bodyPr wrap="square">
            <a:spAutoFit/>
          </a:bodyPr>
          <a:lstStyle/>
          <a:p>
            <a:pPr/>
            <a:r>
              <a:t>Generative AI is poised to transform the financial services industry, with 82% of organizations believing it will significantly impact their sector, according to a Google Cloud study. Key applications include enhancing productivity in document synthesis, improving customer service with advanced virtual assistants, aiding capital markets research, assisting in regulatory compliance, and providing personalized financial recommendations. Companies like Deutsche Bank and MSCI are already leveraging Google Cloud's gen AI to enhance operational efficiencies and innovation. Gen AI offers capabilities such as conversational interactions, intuitive data access, and content generation, which can be implemented using tools like Google Cloud’s Vertex AI.</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cloud.google.com/blog/topics/financial-services/five-generative-ai-use-cases-financial-services-industry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3200" b="1"/>
              <a:t>Generative AI in the Finance Function of the Future</a:t>
            </a:r>
          </a:p>
        </p:txBody>
      </p:sp>
      <p:sp>
        <p:nvSpPr>
          <p:cNvPr id="5" name="TextBox 4"/>
          <p:cNvSpPr txBox="1"/>
          <p:nvPr/>
        </p:nvSpPr>
        <p:spPr>
          <a:xfrm>
            <a:off x="640080" y="1828799"/>
            <a:ext cx="7315200" cy="731520"/>
          </a:xfrm>
          <a:prstGeom prst="rect">
            <a:avLst/>
          </a:prstGeom>
          <a:noFill/>
        </p:spPr>
        <p:txBody>
          <a:bodyPr wrap="square">
            <a:spAutoFit/>
          </a:bodyPr>
          <a:lstStyle/>
          <a:p>
            <a:r>
              <a:rPr sz="1600"/>
              <a:t>Generative AI in the Finance Function of the Future</a:t>
            </a:r>
          </a:p>
        </p:txBody>
      </p:sp>
      <p:sp>
        <p:nvSpPr>
          <p:cNvPr id="6" name="TextBox 5"/>
          <p:cNvSpPr txBox="1"/>
          <p:nvPr/>
        </p:nvSpPr>
        <p:spPr>
          <a:xfrm>
            <a:off x="640080" y="2651760"/>
            <a:ext cx="7315200" cy="3840480"/>
          </a:xfrm>
          <a:prstGeom prst="rect">
            <a:avLst/>
          </a:prstGeom>
          <a:noFill/>
        </p:spPr>
        <p:txBody>
          <a:bodyPr wrap="square">
            <a:spAutoFit/>
          </a:bodyPr>
          <a:lstStyle/>
          <a:p>
            <a:pPr/>
            <a:r>
              <a:t>Generative AI tools like ChatGPT and Google Bard are set to transform finance functions by augmenting existing processes, transforming core processes, and mitigating risks. Currently, these tools are primarily used for text and image generation, but as their capabilities improve, they will collaborate with traditional AI to enhance forecasting, variance explanation, and strategic decision-making. The adoption of generative AI follows an S-curve pattern, with challenges such as data accuracy, security, and governance needing to be addressed. CFOs are advised to prepare by creating proofs of concept, training talent, developing AI capabilities in-house, and collaborating with IT to drive successful implementation.</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bcg.com/publications/2023/generative-ai-in-finance-and-accounting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