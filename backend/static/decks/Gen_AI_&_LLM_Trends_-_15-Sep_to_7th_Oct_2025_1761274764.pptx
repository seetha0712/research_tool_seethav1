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mckinsey.com/featured-insights/future-of-asia/future-of-asia-podcasts/exploring-the-frontier-technology-trends-in-asia"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blogs.nvidia.com/blog/ai-day-tokyo/"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smfg.co.jp/english/dx_link/article/0117.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inextra.com/newsarticle/46721/moodys-warns-slow-ai-adoption-could-erode-margins-and-market-share?utm_medium=rssfinextra&amp;utm_source=finextrafeed"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inextra.com/newsarticle/46697/bbva-lets-customers-use-apple-ai-to-create-their-own-card-designs?utm_medium=rssfinextra&amp;utm_source=finextrafeed"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databricks.com/blog/setting-stage-ai-governance-insurance-2025"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jri.co.jp/file/advanced/advanced-technology/pdf/15800_en.pdf"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theguardian.com/technology/2025/oct/06/openai-chipmaker-amd-dea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openai.com/global-affairs/strategic-collaboration-with-japan-digital-agency"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openai.com/index/samsung-and-sk-join-stargate"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anthropic.com/news/create-files"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cognizant.com/us/en/insights/insights-blog/japan-generative-ai-adoption"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orrester.com/blogs/zero-click-search-comes-for-checkout-agentic-commerce-automates-retails-next-frontier/"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inextra.com/newsarticle/46682/payos-and-mastercard-complete-milestone-agentic-payment-transaction?utm_medium=rssfinextra&amp;utm_source=finextrafeed"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research.google/blog/the-anatomy-of-a-personal-health-agent/"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research.google/blog/towards-better-health-conversations-research-insights-on-a-wayfinding-ai-agent-based-on-gemini/"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orrester.com/blogs/how-to-build-ai-red-teams-that-actually-work/"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news.mit.edu/2025/responding-to-generative-ai-climate-impact-0930"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openai.com/index/introducing-apps-in-chatgpt"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openai.com/index/introducing-agentkit"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orrester.com/blogs/from-keywords-to-context-impact-and-opportunity-for-ai-powered-search-in-b2b-marketing/"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databricks.com/blog/transforming-supply-chain-management-ai-agents"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r>
              <a:rPr sz="3200" b="1"/>
              <a:t>Gen AI &amp; LLM Trends - 15-Sep to 7th Oct 2025</a:t>
            </a:r>
          </a:p>
        </p:txBody>
      </p:sp>
      <p:sp>
        <p:nvSpPr>
          <p:cNvPr id="3" name="Subtitle 2"/>
          <p:cNvSpPr>
            <a:spLocks noGrp="1"/>
          </p:cNvSpPr>
          <p:nvPr>
            <p:ph type="subTitle" idx="1"/>
          </p:nvPr>
        </p:nvSpPr>
        <p:spPr/>
        <p:txBody>
          <a:bodyPr/>
          <a:lstStyle/>
          <a:p>
            <a:r>
              <a:t>Draft deck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wrap="square"/>
          <a:lstStyle/>
          <a:p>
            <a:r>
              <a:t>Total articles: 22</a:t>
            </a:r>
          </a:p>
          <a:p>
            <a:pPr lvl="1"/>
            <a:r>
              <a:t>Uncategorized: 1</a:t>
            </a:r>
          </a:p>
          <a:p>
            <a:pPr lvl="1"/>
            <a:r>
              <a:t>AI &amp; GenAI Trends: 2</a:t>
            </a:r>
          </a:p>
          <a:p>
            <a:pPr lvl="1"/>
            <a:r>
              <a:t>AI in Financial Institutions: 4</a:t>
            </a:r>
          </a:p>
          <a:p>
            <a:pPr lvl="1"/>
            <a:r>
              <a:t>Leading AI Innovators: 5</a:t>
            </a:r>
          </a:p>
          <a:p>
            <a:pPr lvl="1"/>
            <a:r>
              <a:t>Agentic AI: 4</a:t>
            </a:r>
          </a:p>
          <a:p>
            <a:pPr lvl="1"/>
            <a:r>
              <a:t>Broader AI Topics: 2</a:t>
            </a:r>
          </a:p>
          <a:p>
            <a:pPr lvl="1"/>
            <a:r>
              <a:t>Tech Corner: 2</a:t>
            </a:r>
          </a:p>
          <a:p>
            <a:pPr lvl="1"/>
            <a:r>
              <a:t>AI Beyond Finance: 2</a:t>
            </a:r>
          </a:p>
        </p:txBody>
      </p:sp>
      <p:sp>
        <p:nvSpPr>
          <p:cNvPr id="4" name="TextBox 3"/>
          <p:cNvSpPr txBox="1"/>
          <p:nvPr/>
        </p:nvSpPr>
        <p:spPr>
          <a:xfrm>
            <a:off x="640080" y="365760"/>
            <a:ext cx="7772400" cy="1097280"/>
          </a:xfrm>
          <a:prstGeom prst="rect">
            <a:avLst/>
          </a:prstGeom>
          <a:noFill/>
        </p:spPr>
        <p:txBody>
          <a:bodyPr wrap="square">
            <a:spAutoFit/>
          </a:bodyPr>
          <a:lstStyle/>
          <a:p>
            <a:r>
              <a:rPr sz="3600" b="1"/>
              <a:t>Executive Summary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200" b="1"/>
              <a:t>Exploring the frontier: Technology trends in Asia</a:t>
            </a:r>
          </a:p>
        </p:txBody>
      </p:sp>
      <p:sp>
        <p:nvSpPr>
          <p:cNvPr id="3" name="TextBox 2"/>
          <p:cNvSpPr txBox="1"/>
          <p:nvPr/>
        </p:nvSpPr>
        <p:spPr>
          <a:xfrm>
            <a:off x="640080" y="1828799"/>
            <a:ext cx="7315200" cy="731520"/>
          </a:xfrm>
          <a:prstGeom prst="rect">
            <a:avLst/>
          </a:prstGeom>
          <a:noFill/>
        </p:spPr>
        <p:txBody>
          <a:bodyPr wrap="square">
            <a:spAutoFit/>
          </a:bodyPr>
          <a:lstStyle/>
          <a:p>
            <a:r>
              <a:rPr sz="1600"/>
              <a:t>Exploring the frontier: Technology trends in Asia</a:t>
            </a:r>
          </a:p>
        </p:txBody>
      </p:sp>
      <p:sp>
        <p:nvSpPr>
          <p:cNvPr id="4" name="TextBox 3"/>
          <p:cNvSpPr txBox="1"/>
          <p:nvPr/>
        </p:nvSpPr>
        <p:spPr>
          <a:xfrm>
            <a:off x="640080" y="2651760"/>
            <a:ext cx="7315200" cy="3840480"/>
          </a:xfrm>
          <a:prstGeom prst="rect">
            <a:avLst/>
          </a:prstGeom>
          <a:noFill/>
        </p:spPr>
        <p:txBody>
          <a:bodyPr wrap="square">
            <a:spAutoFit/>
          </a:bodyPr>
          <a:lstStyle/>
          <a:p>
            <a:pPr/>
            <a:r>
              <a:t>Cutting-edge technologies present exciting possibilities for organizations globally and in Asia, but their full potential needs to be unlocked.</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mckinsey.com/featured-insights/future-of-asia/future-of-asia-podcasts/exploring-the-frontier-technology-trends-in-asia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2400" b="1"/>
              <a:t>Japan’s AI Demand Will Increase 320x by 2030, Industry Leader Says at NVIDIA AI Day Tokyo</a:t>
            </a:r>
          </a:p>
        </p:txBody>
      </p:sp>
      <p:sp>
        <p:nvSpPr>
          <p:cNvPr id="3" name="TextBox 2"/>
          <p:cNvSpPr txBox="1"/>
          <p:nvPr/>
        </p:nvSpPr>
        <p:spPr>
          <a:xfrm>
            <a:off x="640080" y="2240280"/>
            <a:ext cx="7315200" cy="731520"/>
          </a:xfrm>
          <a:prstGeom prst="rect">
            <a:avLst/>
          </a:prstGeom>
          <a:noFill/>
        </p:spPr>
        <p:txBody>
          <a:bodyPr wrap="square">
            <a:spAutoFit/>
          </a:bodyPr>
          <a:lstStyle/>
          <a:p>
            <a:r>
              <a:rPr sz="1600"/>
              <a:t>Japan’s AI Demand Will Increase 320x by 2030, Industry Leader Says at NVIDIA AI Day Tokyo</a:t>
            </a:r>
          </a:p>
        </p:txBody>
      </p:sp>
      <p:sp>
        <p:nvSpPr>
          <p:cNvPr id="4" name="TextBox 3"/>
          <p:cNvSpPr txBox="1"/>
          <p:nvPr/>
        </p:nvSpPr>
        <p:spPr>
          <a:xfrm>
            <a:off x="640080" y="3063240"/>
            <a:ext cx="7315200" cy="3840480"/>
          </a:xfrm>
          <a:prstGeom prst="rect">
            <a:avLst/>
          </a:prstGeom>
          <a:noFill/>
        </p:spPr>
        <p:txBody>
          <a:bodyPr wrap="square">
            <a:spAutoFit/>
          </a:bodyPr>
          <a:lstStyle/>
          <a:p>
            <a:pPr/>
            <a:r>
              <a:t>NVIDIA AI Day Tokyo attracted over 900 attendees to explore sovereign AI, with a focus on agentic and physical AI, quantum computing, and AI factories. Key players like SoftBank, GMO Internet, and KDDI showcased advancements in AI factories, while Japan aims for a 320x increase in AI computing demand by 2030, supported by a $65 billion government investment in AI and semiconductors. Companies like Stockmark and FastLabel introduced innovative AI solutions, and initiatives like GENIAC are enhancing Japan's generative AI capabilities. The event highlighted NVIDIA's role in advancing AI in industries such as healthcare, manufacturing, and construction, with tools like the NeMo software suite and AI Blueprints.</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blogs.nvidia.com/blog/ai-day-tokyo/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2800" b="1"/>
              <a:t>SMBC-GAI: The Inside Story on the SMBC Group's Own AI Assistant</a:t>
            </a:r>
          </a:p>
        </p:txBody>
      </p:sp>
      <p:sp>
        <p:nvSpPr>
          <p:cNvPr id="3" name="TextBox 2"/>
          <p:cNvSpPr txBox="1"/>
          <p:nvPr/>
        </p:nvSpPr>
        <p:spPr>
          <a:xfrm>
            <a:off x="640080" y="1828799"/>
            <a:ext cx="7315200" cy="731520"/>
          </a:xfrm>
          <a:prstGeom prst="rect">
            <a:avLst/>
          </a:prstGeom>
          <a:noFill/>
        </p:spPr>
        <p:txBody>
          <a:bodyPr wrap="square">
            <a:spAutoFit/>
          </a:bodyPr>
          <a:lstStyle/>
          <a:p>
            <a:r>
              <a:rPr sz="1600"/>
              <a:t>SMBC-GAI: The Inside Story on the SMBC Group's Own AI Assistant</a:t>
            </a:r>
          </a:p>
        </p:txBody>
      </p:sp>
      <p:sp>
        <p:nvSpPr>
          <p:cNvPr id="4" name="TextBox 3"/>
          <p:cNvSpPr txBox="1"/>
          <p:nvPr/>
        </p:nvSpPr>
        <p:spPr>
          <a:xfrm>
            <a:off x="640080" y="2651760"/>
            <a:ext cx="7315200" cy="3840480"/>
          </a:xfrm>
          <a:prstGeom prst="rect">
            <a:avLst/>
          </a:prstGeom>
          <a:noFill/>
        </p:spPr>
        <p:txBody>
          <a:bodyPr wrap="square">
            <a:spAutoFit/>
          </a:bodyPr>
          <a:lstStyle/>
          <a:p>
            <a:pPr/>
            <a:r>
              <a:t>In July 2023, SMBC Group became the first major Japanese banking group to develop and implement its own AI assistant, SMBC-GAI, accessible only to its employees within a private network. The AI tool, embedded in Microsoft Teams, was developed in just four months, with a significant focus on creating guidelines to ensure safe and secure usage. The development process leveraged Microsoft’s Azure OpenAI Service and was driven by SMBC Group's proactive adoption of AI technologies. Since its release, SMBC-GAI has been used approximately 12,000 times a day, aiding in tasks such as information lookup, document translation, and email drafting, with plans to further integrate it into business operations like call center support.</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smfg.co.jp/english/dx_link/article/0117.html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2800" b="1"/>
              <a:t>Moody’s warns slow AI adoption could erode margins and market share</a:t>
            </a:r>
          </a:p>
        </p:txBody>
      </p:sp>
      <p:sp>
        <p:nvSpPr>
          <p:cNvPr id="3" name="TextBox 2"/>
          <p:cNvSpPr txBox="1"/>
          <p:nvPr/>
        </p:nvSpPr>
        <p:spPr>
          <a:xfrm>
            <a:off x="640080" y="1828799"/>
            <a:ext cx="7315200" cy="731520"/>
          </a:xfrm>
          <a:prstGeom prst="rect">
            <a:avLst/>
          </a:prstGeom>
          <a:noFill/>
        </p:spPr>
        <p:txBody>
          <a:bodyPr wrap="square">
            <a:spAutoFit/>
          </a:bodyPr>
          <a:lstStyle/>
          <a:p>
            <a:r>
              <a:rPr sz="1600"/>
              <a:t>Moody’s warns slow AI adoption could erode margins and market share</a:t>
            </a:r>
          </a:p>
        </p:txBody>
      </p:sp>
      <p:sp>
        <p:nvSpPr>
          <p:cNvPr id="4" name="TextBox 3"/>
          <p:cNvSpPr txBox="1"/>
          <p:nvPr/>
        </p:nvSpPr>
        <p:spPr>
          <a:xfrm>
            <a:off x="640080" y="2651760"/>
            <a:ext cx="7315200" cy="3840480"/>
          </a:xfrm>
          <a:prstGeom prst="rect">
            <a:avLst/>
          </a:prstGeom>
          <a:noFill/>
        </p:spPr>
        <p:txBody>
          <a:bodyPr wrap="square">
            <a:spAutoFit/>
          </a:bodyPr>
          <a:lstStyle/>
          <a:p>
            <a:pPr/>
            <a:r>
              <a:t>Moody's Ratings has updated its AI Corporate Heatmap, highlighting AI as a significant factor in corporate creditworthiness through 2030, with two scenarios: conservative and optimistic. Firms slow to adopt AI risk margin erosion, market-share loss, and higher capital costs, while early adopters may gain efficiency. High-gain sectors include finance, healthcare, insurance, and logistics, whereas utilities and heavy manufacturing face structural barriers. Regional disparities will affect AI benefits, with the US leading in tech ecosystems, and boards often underestimate the financial risks of slow AI adoption.</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finextra.com/newsarticle/46721/moodys-warns-slow-ai-adoption-could-erode-margins-and-market-share?utm_medium=rssfinextra&amp;utm_source=finextrafeed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2800" b="1"/>
              <a:t>BBVA lets customers use Apple AI to create their own card designs</a:t>
            </a:r>
          </a:p>
        </p:txBody>
      </p:sp>
      <p:sp>
        <p:nvSpPr>
          <p:cNvPr id="3" name="TextBox 2"/>
          <p:cNvSpPr txBox="1"/>
          <p:nvPr/>
        </p:nvSpPr>
        <p:spPr>
          <a:xfrm>
            <a:off x="640080" y="1828799"/>
            <a:ext cx="7315200" cy="731520"/>
          </a:xfrm>
          <a:prstGeom prst="rect">
            <a:avLst/>
          </a:prstGeom>
          <a:noFill/>
        </p:spPr>
        <p:txBody>
          <a:bodyPr wrap="square">
            <a:spAutoFit/>
          </a:bodyPr>
          <a:lstStyle/>
          <a:p>
            <a:r>
              <a:rPr sz="1600"/>
              <a:t>BBVA lets customers use Apple AI to create their own card designs</a:t>
            </a:r>
          </a:p>
        </p:txBody>
      </p:sp>
      <p:sp>
        <p:nvSpPr>
          <p:cNvPr id="4" name="TextBox 3"/>
          <p:cNvSpPr txBox="1"/>
          <p:nvPr/>
        </p:nvSpPr>
        <p:spPr>
          <a:xfrm>
            <a:off x="640080" y="2651760"/>
            <a:ext cx="7315200" cy="3840480"/>
          </a:xfrm>
          <a:prstGeom prst="rect">
            <a:avLst/>
          </a:prstGeom>
          <a:noFill/>
        </p:spPr>
        <p:txBody>
          <a:bodyPr wrap="square">
            <a:spAutoFit/>
          </a:bodyPr>
          <a:lstStyle/>
          <a:p>
            <a:pPr/>
            <a:r>
              <a:t>BBVA and Visa have introduced a new feature allowing customers in Spain with an iPhone 15 Pro or newer to personalize their payment cards using Apple's AI-powered Image Playground. Customers can select a Visa card in the BBVA app, choose or describe an image, and have the AI generate design proposals, which can be instantly updated in the app wallet. Initially available for virtual cards, the feature will soon extend to physical cards, with no limit on the number of images created, though designs must adhere to copyright and content guidelines. This initiative aims to offer a unique, customer-centered card design experience.</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finextra.com/newsarticle/46697/bbva-lets-customers-use-apple-ai-to-create-their-own-card-designs?utm_medium=rssfinextra&amp;utm_source=finextrafeed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200" b="1"/>
              <a:t>Setting the Stage: AI Governance for Insurance in 2025</a:t>
            </a:r>
          </a:p>
        </p:txBody>
      </p:sp>
      <p:sp>
        <p:nvSpPr>
          <p:cNvPr id="3" name="TextBox 2"/>
          <p:cNvSpPr txBox="1"/>
          <p:nvPr/>
        </p:nvSpPr>
        <p:spPr>
          <a:xfrm>
            <a:off x="640080" y="1828799"/>
            <a:ext cx="7315200" cy="731520"/>
          </a:xfrm>
          <a:prstGeom prst="rect">
            <a:avLst/>
          </a:prstGeom>
          <a:noFill/>
        </p:spPr>
        <p:txBody>
          <a:bodyPr wrap="square">
            <a:spAutoFit/>
          </a:bodyPr>
          <a:lstStyle/>
          <a:p>
            <a:r>
              <a:rPr sz="1600"/>
              <a:t>Setting the Stage: AI Governance for Insurance in 2025</a:t>
            </a:r>
          </a:p>
        </p:txBody>
      </p:sp>
      <p:sp>
        <p:nvSpPr>
          <p:cNvPr id="4" name="TextBox 3"/>
          <p:cNvSpPr txBox="1"/>
          <p:nvPr/>
        </p:nvSpPr>
        <p:spPr>
          <a:xfrm>
            <a:off x="640080" y="2651760"/>
            <a:ext cx="7315200" cy="3840480"/>
          </a:xfrm>
          <a:prstGeom prst="rect">
            <a:avLst/>
          </a:prstGeom>
          <a:noFill/>
        </p:spPr>
        <p:txBody>
          <a:bodyPr wrap="square">
            <a:spAutoFit/>
          </a:bodyPr>
          <a:lstStyle/>
          <a:p>
            <a:pPr/>
            <a:r>
              <a:t>The National Association of Insurance Commissioners (NAIC) is evaluating a new AI Model Law to ensure fairness, transparency, and accountability in the insurance sector. Databricks and Deloitte are collaborating to help insurers meet these regulatory demands by providing advanced data platform technology and governance experience. Their joint efforts focus on embedding scalable controls, auditable processes, and strategic risk frameworks to ensure AI-driven decisions are accountable and explainable. Databricks' AI Security and Governance Frameworks, along with Deloitte's insurance-specific controls, offer real-time monitoring, automated bias detection, and audit logging to maintain compliance and unlock business opportunities.</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databricks.com/blog/setting-stage-ai-governance-insurance-2025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600" b="1"/>
              <a:t>[PDF] Finance × Generative AI</a:t>
            </a:r>
          </a:p>
        </p:txBody>
      </p:sp>
      <p:sp>
        <p:nvSpPr>
          <p:cNvPr id="3" name="TextBox 2"/>
          <p:cNvSpPr txBox="1"/>
          <p:nvPr/>
        </p:nvSpPr>
        <p:spPr>
          <a:xfrm>
            <a:off x="640080" y="1828799"/>
            <a:ext cx="7315200" cy="731520"/>
          </a:xfrm>
          <a:prstGeom prst="rect">
            <a:avLst/>
          </a:prstGeom>
          <a:noFill/>
        </p:spPr>
        <p:txBody>
          <a:bodyPr wrap="square">
            <a:spAutoFit/>
          </a:bodyPr>
          <a:lstStyle/>
          <a:p>
            <a:r>
              <a:rPr sz="1600"/>
              <a:t>[PDF] Finance × Generative AI</a:t>
            </a:r>
          </a:p>
        </p:txBody>
      </p:sp>
      <p:sp>
        <p:nvSpPr>
          <p:cNvPr id="4" name="TextBox 3"/>
          <p:cNvSpPr txBox="1"/>
          <p:nvPr/>
        </p:nvSpPr>
        <p:spPr>
          <a:xfrm>
            <a:off x="640080" y="2651760"/>
            <a:ext cx="7315200" cy="3840480"/>
          </a:xfrm>
          <a:prstGeom prst="rect">
            <a:avLst/>
          </a:prstGeom>
          <a:noFill/>
        </p:spPr>
        <p:txBody>
          <a:bodyPr wrap="square">
            <a:spAutoFit/>
          </a:bodyPr>
          <a:lstStyle/>
          <a:p>
            <a:pPr/>
            <a:r>
              <a:t>The case study by The Japan Research Institute highlights that financial firms are primarily investing in multimodal AI and robotics, which accounts for 32% of their tech development efforts. Other significant areas of focus include fairness, privacy, and security (19%), time series forecasting and analysis (16%), and finance-specific language models and natural language processing (16%). Additionally, these firms are emphasizing the importance of clear prompts and the integration of explicit knowledge in their AI strategies.</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jri.co.jp/file/advanced/advanced-technology/pdf/15800_en.pdf</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200" b="1"/>
              <a:t>OpenAI signs multibillion-dollar chip deal with AMD</a:t>
            </a:r>
          </a:p>
        </p:txBody>
      </p:sp>
      <p:sp>
        <p:nvSpPr>
          <p:cNvPr id="3" name="TextBox 2"/>
          <p:cNvSpPr txBox="1"/>
          <p:nvPr/>
        </p:nvSpPr>
        <p:spPr>
          <a:xfrm>
            <a:off x="640080" y="1828799"/>
            <a:ext cx="7315200" cy="731520"/>
          </a:xfrm>
          <a:prstGeom prst="rect">
            <a:avLst/>
          </a:prstGeom>
          <a:noFill/>
        </p:spPr>
        <p:txBody>
          <a:bodyPr wrap="square">
            <a:spAutoFit/>
          </a:bodyPr>
          <a:lstStyle/>
          <a:p>
            <a:r>
              <a:rPr sz="1600"/>
              <a:t>OpenAI signs multibillion-dollar chip deal with AMD</a:t>
            </a:r>
          </a:p>
        </p:txBody>
      </p:sp>
      <p:sp>
        <p:nvSpPr>
          <p:cNvPr id="4" name="TextBox 3"/>
          <p:cNvSpPr txBox="1"/>
          <p:nvPr/>
        </p:nvSpPr>
        <p:spPr>
          <a:xfrm>
            <a:off x="640080" y="2651760"/>
            <a:ext cx="7315200" cy="3840480"/>
          </a:xfrm>
          <a:prstGeom prst="rect">
            <a:avLst/>
          </a:prstGeom>
          <a:noFill/>
        </p:spPr>
        <p:txBody>
          <a:bodyPr wrap="square">
            <a:spAutoFit/>
          </a:bodyPr>
          <a:lstStyle/>
          <a:p>
            <a:pPr/>
            <a:r>
              <a:t>OpenAI and AMD have signed a multibillion-dollar deal allowing OpenAI to purchase a 10% stake in AMD, causing AMD's shares to surge by over 30%, adding approximately $80 billion to its market capitalization. The agreement involves deploying hundreds of thousands of AMD's AI chips, equivalent to six gigawatts, starting in the second half of 2026, with OpenAI planning to build a one-gigawatt facility using AMD's MI450 series chips. AMD expects the deal to generate tens of billions in annual revenue and over $100 billion in new revenue over four years. OpenAI, valued at around $500 billion, has generated $4.3 billion in revenue in the first half of 2025 but has also spent $2.5 billion in cash on talent and AI tool development.</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theguardian.com/technology/2025/oct/06/openai-chipmaker-amd-deal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2800" b="1"/>
              <a:t>OpenAI announces strategic collaboration with Japan’s Digital Agency</a:t>
            </a:r>
          </a:p>
        </p:txBody>
      </p:sp>
      <p:sp>
        <p:nvSpPr>
          <p:cNvPr id="3" name="TextBox 2"/>
          <p:cNvSpPr txBox="1"/>
          <p:nvPr/>
        </p:nvSpPr>
        <p:spPr>
          <a:xfrm>
            <a:off x="640080" y="1828799"/>
            <a:ext cx="7315200" cy="731520"/>
          </a:xfrm>
          <a:prstGeom prst="rect">
            <a:avLst/>
          </a:prstGeom>
          <a:noFill/>
        </p:spPr>
        <p:txBody>
          <a:bodyPr wrap="square">
            <a:spAutoFit/>
          </a:bodyPr>
          <a:lstStyle/>
          <a:p>
            <a:r>
              <a:rPr sz="1600"/>
              <a:t>OpenAI announces strategic collaboration with Japan’s Digital Agency</a:t>
            </a:r>
          </a:p>
        </p:txBody>
      </p:sp>
      <p:sp>
        <p:nvSpPr>
          <p:cNvPr id="4" name="TextBox 3"/>
          <p:cNvSpPr txBox="1"/>
          <p:nvPr/>
        </p:nvSpPr>
        <p:spPr>
          <a:xfrm>
            <a:off x="640080" y="2651760"/>
            <a:ext cx="7315200" cy="3840480"/>
          </a:xfrm>
          <a:prstGeom prst="rect">
            <a:avLst/>
          </a:prstGeom>
          <a:noFill/>
        </p:spPr>
        <p:txBody>
          <a:bodyPr wrap="square">
            <a:spAutoFit/>
          </a:bodyPr>
          <a:lstStyle/>
          <a:p>
            <a:pPr/>
            <a:r>
              <a:t>OpenAI and Japan’s Digital Agency partner to advance generative AI in public services, support international AI governance, and promote safe, trustworthy AI adoption worldwide.</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openai.com/global-affairs/strategic-collaboration-with-japan-digital-agency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2400" b="1"/>
              <a:t>Samsung and SK join OpenAI’s Stargate initiative to advance global AI infrastructure</a:t>
            </a:r>
          </a:p>
        </p:txBody>
      </p:sp>
      <p:sp>
        <p:nvSpPr>
          <p:cNvPr id="3" name="TextBox 2"/>
          <p:cNvSpPr txBox="1"/>
          <p:nvPr/>
        </p:nvSpPr>
        <p:spPr>
          <a:xfrm>
            <a:off x="640080" y="2240280"/>
            <a:ext cx="7315200" cy="731520"/>
          </a:xfrm>
          <a:prstGeom prst="rect">
            <a:avLst/>
          </a:prstGeom>
          <a:noFill/>
        </p:spPr>
        <p:txBody>
          <a:bodyPr wrap="square">
            <a:spAutoFit/>
          </a:bodyPr>
          <a:lstStyle/>
          <a:p>
            <a:r>
              <a:rPr sz="1600"/>
              <a:t>Samsung and SK join OpenAI’s Stargate initiative to advance global AI infrastructure</a:t>
            </a:r>
          </a:p>
        </p:txBody>
      </p:sp>
      <p:sp>
        <p:nvSpPr>
          <p:cNvPr id="4" name="TextBox 3"/>
          <p:cNvSpPr txBox="1"/>
          <p:nvPr/>
        </p:nvSpPr>
        <p:spPr>
          <a:xfrm>
            <a:off x="640080" y="3063240"/>
            <a:ext cx="7315200" cy="3840480"/>
          </a:xfrm>
          <a:prstGeom prst="rect">
            <a:avLst/>
          </a:prstGeom>
          <a:noFill/>
        </p:spPr>
        <p:txBody>
          <a:bodyPr wrap="square">
            <a:spAutoFit/>
          </a:bodyPr>
          <a:lstStyle/>
          <a:p>
            <a:pPr/>
            <a:r>
              <a:t>Samsung and SK join OpenAI’s Stargate initiative to expand global AI infrastructure, scaling advanced memory chip production and building next-gen data centers in Korea.</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openai.com/index/samsung-and-sk-join-stargate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600" b="1"/>
              <a:t>Claude can now create and edit files</a:t>
            </a:r>
          </a:p>
        </p:txBody>
      </p:sp>
      <p:sp>
        <p:nvSpPr>
          <p:cNvPr id="3" name="TextBox 2"/>
          <p:cNvSpPr txBox="1"/>
          <p:nvPr/>
        </p:nvSpPr>
        <p:spPr>
          <a:xfrm>
            <a:off x="640080" y="1828799"/>
            <a:ext cx="7315200" cy="731520"/>
          </a:xfrm>
          <a:prstGeom prst="rect">
            <a:avLst/>
          </a:prstGeom>
          <a:noFill/>
        </p:spPr>
        <p:txBody>
          <a:bodyPr wrap="square">
            <a:spAutoFit/>
          </a:bodyPr>
          <a:lstStyle/>
          <a:p>
            <a:r>
              <a:rPr sz="1600"/>
              <a:t>Claude can now create and edit files</a:t>
            </a:r>
          </a:p>
        </p:txBody>
      </p:sp>
      <p:sp>
        <p:nvSpPr>
          <p:cNvPr id="4" name="TextBox 3"/>
          <p:cNvSpPr txBox="1"/>
          <p:nvPr/>
        </p:nvSpPr>
        <p:spPr>
          <a:xfrm>
            <a:off x="640080" y="2651760"/>
            <a:ext cx="7315200" cy="3840480"/>
          </a:xfrm>
          <a:prstGeom prst="rect">
            <a:avLst/>
          </a:prstGeom>
          <a:noFill/>
        </p:spPr>
        <p:txBody>
          <a:bodyPr wrap="square">
            <a:spAutoFit/>
          </a:bodyPr>
          <a:lstStyle/>
          <a:p>
            <a:pPr/>
            <a:r>
              <a:t>Claude can now create and edit Excel spreadsheets, documents, PowerPoint slide decks, and PDFs, available for paid plans with new network egress controls as of October 21, 2025. This feature allows users to upload data and receive ready-to-use files, transforming Claude from a text response tool to an active collaborator capable of handling technical tasks like statistical analysis and financial modeling. File creation is available for Max, Team, and Enterprise plan users, with Pro users gaining access soon. Users can enable this feature under settings and guide Claude through tasks, but should monitor data security closely.</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anthropic.com/news/create-files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2800" b="1"/>
              <a:t>Japanese businesses can unleash gen AI by addressing top inhibitors</a:t>
            </a:r>
          </a:p>
        </p:txBody>
      </p:sp>
      <p:sp>
        <p:nvSpPr>
          <p:cNvPr id="3" name="TextBox 2"/>
          <p:cNvSpPr txBox="1"/>
          <p:nvPr/>
        </p:nvSpPr>
        <p:spPr>
          <a:xfrm>
            <a:off x="640080" y="1828799"/>
            <a:ext cx="7315200" cy="731520"/>
          </a:xfrm>
          <a:prstGeom prst="rect">
            <a:avLst/>
          </a:prstGeom>
          <a:noFill/>
        </p:spPr>
        <p:txBody>
          <a:bodyPr wrap="square">
            <a:spAutoFit/>
          </a:bodyPr>
          <a:lstStyle/>
          <a:p>
            <a:r>
              <a:rPr sz="1600"/>
              <a:t>Japanese businesses can unleash gen AI by addressing top inhibitors</a:t>
            </a:r>
          </a:p>
        </p:txBody>
      </p:sp>
      <p:sp>
        <p:nvSpPr>
          <p:cNvPr id="4" name="TextBox 3"/>
          <p:cNvSpPr txBox="1"/>
          <p:nvPr/>
        </p:nvSpPr>
        <p:spPr>
          <a:xfrm>
            <a:off x="640080" y="2651760"/>
            <a:ext cx="7315200" cy="3840480"/>
          </a:xfrm>
          <a:prstGeom prst="rect">
            <a:avLst/>
          </a:prstGeom>
          <a:noFill/>
        </p:spPr>
        <p:txBody>
          <a:bodyPr wrap="square">
            <a:spAutoFit/>
          </a:bodyPr>
          <a:lstStyle/>
          <a:p>
            <a:pPr/>
            <a:r>
              <a:t>Japan, despite being technologically advanced, is cautious about adopting immature technologies like generative AI, investing only $23 million this year compared to the global average of $47 million. The country's focus on physical products over software has led to a lag in AI integration, with 63% of businesses feeling they aren't advancing rapidly enough in AI strategies. The study of 2,200 business leaders, including 200 from Japan, highlights market demand, data readiness, and flexible operating models as AI adoption accelerators, while talent shortages and inflexible business models are major inhibitors. Japan's AI adoption is further supported by government investments, such as AWS's $15.24 billion cloud infrastructure expansion and a $740 million partnership with NVIDIA to enhance AI infrastructure.</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cognizant.com/us/en/insights/insights-blog/japan-generative-ai-adoption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2400" b="1"/>
              <a:t>Zero-Click Search Comes For Checkout: Agentic Commerce Automates Retail’s Next Frontier</a:t>
            </a:r>
          </a:p>
        </p:txBody>
      </p:sp>
      <p:sp>
        <p:nvSpPr>
          <p:cNvPr id="3" name="TextBox 2"/>
          <p:cNvSpPr txBox="1"/>
          <p:nvPr/>
        </p:nvSpPr>
        <p:spPr>
          <a:xfrm>
            <a:off x="640080" y="2240280"/>
            <a:ext cx="7315200" cy="731520"/>
          </a:xfrm>
          <a:prstGeom prst="rect">
            <a:avLst/>
          </a:prstGeom>
          <a:noFill/>
        </p:spPr>
        <p:txBody>
          <a:bodyPr wrap="square">
            <a:spAutoFit/>
          </a:bodyPr>
          <a:lstStyle/>
          <a:p>
            <a:r>
              <a:rPr sz="1600"/>
              <a:t>Zero-Click Search Comes For Checkout: Agentic Commerce Automates Retail’s Next Frontier</a:t>
            </a:r>
          </a:p>
        </p:txBody>
      </p:sp>
      <p:sp>
        <p:nvSpPr>
          <p:cNvPr id="4" name="TextBox 3"/>
          <p:cNvSpPr txBox="1"/>
          <p:nvPr/>
        </p:nvSpPr>
        <p:spPr>
          <a:xfrm>
            <a:off x="640080" y="3063240"/>
            <a:ext cx="7315200" cy="3840480"/>
          </a:xfrm>
          <a:prstGeom prst="rect">
            <a:avLst/>
          </a:prstGeom>
          <a:noFill/>
        </p:spPr>
        <p:txBody>
          <a:bodyPr wrap="square">
            <a:spAutoFit/>
          </a:bodyPr>
          <a:lstStyle/>
          <a:p>
            <a:pPr/>
            <a:r>
              <a:t>OpenAI has launched Instant Checkout, allowing US ChatGPT users to purchase directly from Etsy sellers without leaving the ChatGPT interface, with a Shopify partnership on the horizon. This zero-click shopping experience is powered by OpenAI's Agentic Commerce Protocol, which charges merchants a fee for access to high-intent audiences, while Stripe handles payments and chargebacks. A Forrester survey revealed that 18% of adults use ChatGPT for shopping, and 28% of business buyers using generative AI report reduced research time, though 57% consider more vendors. As answer engines increasingly dominate shopping, 70% of US B2C marketing execs plan to shift ad spend from retail media networks to platforms like ChatGPT.</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forrester.com/blogs/zero-click-search-comes-for-checkout-agentic-commerce-automates-retails-next-frontier/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2800" b="1"/>
              <a:t>PayOS and Mastercard complete milestone agentic payment transaction</a:t>
            </a:r>
          </a:p>
        </p:txBody>
      </p:sp>
      <p:sp>
        <p:nvSpPr>
          <p:cNvPr id="3" name="TextBox 2"/>
          <p:cNvSpPr txBox="1"/>
          <p:nvPr/>
        </p:nvSpPr>
        <p:spPr>
          <a:xfrm>
            <a:off x="640080" y="1828799"/>
            <a:ext cx="7315200" cy="731520"/>
          </a:xfrm>
          <a:prstGeom prst="rect">
            <a:avLst/>
          </a:prstGeom>
          <a:noFill/>
        </p:spPr>
        <p:txBody>
          <a:bodyPr wrap="square">
            <a:spAutoFit/>
          </a:bodyPr>
          <a:lstStyle/>
          <a:p>
            <a:r>
              <a:rPr sz="1600"/>
              <a:t>PayOS and Mastercard complete milestone agentic payment transaction</a:t>
            </a:r>
          </a:p>
        </p:txBody>
      </p:sp>
      <p:sp>
        <p:nvSpPr>
          <p:cNvPr id="4" name="TextBox 3"/>
          <p:cNvSpPr txBox="1"/>
          <p:nvPr/>
        </p:nvSpPr>
        <p:spPr>
          <a:xfrm>
            <a:off x="640080" y="2651760"/>
            <a:ext cx="7315200" cy="3840480"/>
          </a:xfrm>
          <a:prstGeom prst="rect">
            <a:avLst/>
          </a:prstGeom>
          <a:noFill/>
        </p:spPr>
        <p:txBody>
          <a:bodyPr wrap="square">
            <a:spAutoFit/>
          </a:bodyPr>
          <a:lstStyle/>
          <a:p>
            <a:pPr/>
            <a:r>
              <a:t>PayOS and Mastercard have successfully completed an autonomous agentic payment transaction using a Mastercard Agentic Token, leveraging the Mastercard Agent Pay system. This transaction utilized enhanced tokenization technology for securing user consent, authentication, authorization, and fraud protection. PayOS is now prepared to onboard customers, offering tools for payment risk management and fraud prevention. Mastercard aims to establish a trust layer with tokenized credentials across its global network, positioning for a future that supports agentic commerce.</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finextra.com/newsarticle/46682/payos-and-mastercard-complete-milestone-agentic-payment-transaction?utm_medium=rssfinextra&amp;utm_source=finextrafeed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600" b="1"/>
              <a:t>The anatomy of a personal health agent</a:t>
            </a:r>
          </a:p>
        </p:txBody>
      </p:sp>
      <p:sp>
        <p:nvSpPr>
          <p:cNvPr id="3" name="TextBox 2"/>
          <p:cNvSpPr txBox="1"/>
          <p:nvPr/>
        </p:nvSpPr>
        <p:spPr>
          <a:xfrm>
            <a:off x="640080" y="1828799"/>
            <a:ext cx="7315200" cy="731520"/>
          </a:xfrm>
          <a:prstGeom prst="rect">
            <a:avLst/>
          </a:prstGeom>
          <a:noFill/>
        </p:spPr>
        <p:txBody>
          <a:bodyPr wrap="square">
            <a:spAutoFit/>
          </a:bodyPr>
          <a:lstStyle/>
          <a:p>
            <a:r>
              <a:rPr sz="1600"/>
              <a:t>The anatomy of a personal health agent</a:t>
            </a:r>
          </a:p>
        </p:txBody>
      </p:sp>
      <p:sp>
        <p:nvSpPr>
          <p:cNvPr id="4" name="TextBox 3"/>
          <p:cNvSpPr txBox="1"/>
          <p:nvPr/>
        </p:nvSpPr>
        <p:spPr>
          <a:xfrm>
            <a:off x="640080" y="2651760"/>
            <a:ext cx="7315200" cy="3840480"/>
          </a:xfrm>
          <a:prstGeom prst="rect">
            <a:avLst/>
          </a:prstGeom>
          <a:noFill/>
        </p:spPr>
        <p:txBody>
          <a:bodyPr wrap="square">
            <a:spAutoFit/>
          </a:bodyPr>
          <a:lstStyle/>
          <a:p>
            <a:pPr/>
            <a:r>
              <a:t>Google Research has developed a research prototype called the Personal Health Agent (PHA), which uses large language models (LLMs) to analyze data from wearable devices and health data like blood biomarkers to provide personalized health insights and coaching. The PHA framework consists of three specialist sub-agents: a data science agent, a domain expert agent, and a health coach agent, each evaluated against state-of-the-art models and showing superior performance in their respective tasks. The PHA system was tested using data from approximately 1,200 users and involved over 1,100 hours of evaluation, demonstrating its ability to provide personalized, evidence-based health guidance. This research outlines a conceptual framework for a modular, collaborative AI system that outperforms traditional monolithic models in delivering personalized health support.</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research.google/blog/the-anatomy-of-a-personal-health-agent/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2400" b="1"/>
              <a:t>Towards better health conversations: Research insights on a “wayfinding” AI agent based on Gemini</a:t>
            </a:r>
          </a:p>
        </p:txBody>
      </p:sp>
      <p:sp>
        <p:nvSpPr>
          <p:cNvPr id="3" name="TextBox 2"/>
          <p:cNvSpPr txBox="1"/>
          <p:nvPr/>
        </p:nvSpPr>
        <p:spPr>
          <a:xfrm>
            <a:off x="640080" y="2240280"/>
            <a:ext cx="7315200" cy="731520"/>
          </a:xfrm>
          <a:prstGeom prst="rect">
            <a:avLst/>
          </a:prstGeom>
          <a:noFill/>
        </p:spPr>
        <p:txBody>
          <a:bodyPr wrap="square">
            <a:spAutoFit/>
          </a:bodyPr>
          <a:lstStyle/>
          <a:p>
            <a:r>
              <a:rPr sz="1600"/>
              <a:t>Towards better health conversations: Research insights on a “wayfinding” AI agent based on Gemini</a:t>
            </a:r>
          </a:p>
        </p:txBody>
      </p:sp>
      <p:sp>
        <p:nvSpPr>
          <p:cNvPr id="4" name="TextBox 3"/>
          <p:cNvSpPr txBox="1"/>
          <p:nvPr/>
        </p:nvSpPr>
        <p:spPr>
          <a:xfrm>
            <a:off x="640080" y="3063240"/>
            <a:ext cx="7315200" cy="3840480"/>
          </a:xfrm>
          <a:prstGeom prst="rect">
            <a:avLst/>
          </a:prstGeom>
          <a:noFill/>
        </p:spPr>
        <p:txBody>
          <a:bodyPr wrap="square">
            <a:spAutoFit/>
          </a:bodyPr>
          <a:lstStyle/>
          <a:p>
            <a:pPr/>
            <a:r>
              <a:t>Google Research has developed a "Wayfinding AI" based on Gemini, designed to improve the way users find health information by asking proactive clarifying questions to better understand user needs. In a series of user experience studies involving 163 participants, the AI was found to be more helpful, relevant, and tailored compared to a baseline AI, with users preferring the "deferred-answer" approach. The Wayfinding AI's design includes proactive conversational guidance, best-effort answers at each turn, and transparent reasoning, which were evaluated in a randomized user study with 130 participants. Results showed that users favored the Wayfinding AI for its ability to tailor conversations to their specific needs and understand their goals, leading to longer and more engaging interactions.</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research.google/blog/towards-better-health-conversations-research-insights-on-a-wayfinding-ai-agent-based-on-gemini/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200" b="1"/>
              <a:t>How To Build AI Red Teams That Actually Work</a:t>
            </a:r>
          </a:p>
        </p:txBody>
      </p:sp>
      <p:sp>
        <p:nvSpPr>
          <p:cNvPr id="3" name="TextBox 2"/>
          <p:cNvSpPr txBox="1"/>
          <p:nvPr/>
        </p:nvSpPr>
        <p:spPr>
          <a:xfrm>
            <a:off x="640080" y="1828799"/>
            <a:ext cx="7315200" cy="731520"/>
          </a:xfrm>
          <a:prstGeom prst="rect">
            <a:avLst/>
          </a:prstGeom>
          <a:noFill/>
        </p:spPr>
        <p:txBody>
          <a:bodyPr wrap="square">
            <a:spAutoFit/>
          </a:bodyPr>
          <a:lstStyle/>
          <a:p>
            <a:r>
              <a:rPr sz="1600"/>
              <a:t>How To Build AI Red Teams That Actually Work</a:t>
            </a:r>
          </a:p>
        </p:txBody>
      </p:sp>
      <p:sp>
        <p:nvSpPr>
          <p:cNvPr id="4" name="TextBox 3"/>
          <p:cNvSpPr txBox="1"/>
          <p:nvPr/>
        </p:nvSpPr>
        <p:spPr>
          <a:xfrm>
            <a:off x="640080" y="2651760"/>
            <a:ext cx="7315200" cy="3840480"/>
          </a:xfrm>
          <a:prstGeom prst="rect">
            <a:avLst/>
          </a:prstGeom>
          <a:noFill/>
        </p:spPr>
        <p:txBody>
          <a:bodyPr wrap="square">
            <a:spAutoFit/>
          </a:bodyPr>
          <a:lstStyle/>
          <a:p>
            <a:pPr/>
            <a:r>
              <a:t>AI red teaming is essential for securing generative AI systems, which are increasingly integrated into business operations. It involves using offensive security tactics to evaluate AI systems for bias, toxicity, and reputational harm, addressing multimodal attack vectors across text, image, video, and audio. Effective AI red teaming supports governance, compliance, and customer trust, meeting GDPR and EU AI Act requirements, and should include agentic red teaming, threat modeling specific to application context, and probabilistic risk modeling. Costs for AI red teaming range from $25,000 to $200,000, depending on scope and methodology, and it is crucial for maintaining brand reputation and regulatory compliance.</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forrester.com/blogs/how-to-build-ai-red-teams-that-actually-work/</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200" b="1"/>
              <a:t>Responding to the climate impact of generative AI</a:t>
            </a:r>
          </a:p>
        </p:txBody>
      </p:sp>
      <p:sp>
        <p:nvSpPr>
          <p:cNvPr id="3" name="TextBox 2"/>
          <p:cNvSpPr txBox="1"/>
          <p:nvPr/>
        </p:nvSpPr>
        <p:spPr>
          <a:xfrm>
            <a:off x="640080" y="1828799"/>
            <a:ext cx="7315200" cy="731520"/>
          </a:xfrm>
          <a:prstGeom prst="rect">
            <a:avLst/>
          </a:prstGeom>
          <a:noFill/>
        </p:spPr>
        <p:txBody>
          <a:bodyPr wrap="square">
            <a:spAutoFit/>
          </a:bodyPr>
          <a:lstStyle/>
          <a:p>
            <a:r>
              <a:rPr sz="1600"/>
              <a:t>Responding to the climate impact of generative AI</a:t>
            </a:r>
          </a:p>
        </p:txBody>
      </p:sp>
      <p:sp>
        <p:nvSpPr>
          <p:cNvPr id="4" name="TextBox 3"/>
          <p:cNvSpPr txBox="1"/>
          <p:nvPr/>
        </p:nvSpPr>
        <p:spPr>
          <a:xfrm>
            <a:off x="640080" y="2651760"/>
            <a:ext cx="7315200" cy="3840480"/>
          </a:xfrm>
          <a:prstGeom prst="rect">
            <a:avLst/>
          </a:prstGeom>
          <a:noFill/>
        </p:spPr>
        <p:txBody>
          <a:bodyPr wrap="square">
            <a:spAutoFit/>
          </a:bodyPr>
          <a:lstStyle/>
          <a:p>
            <a:pPr/>
            <a:r>
              <a:t>The article discusses the environmental impacts of generative AI, highlighting that energy demands from data centers are expected to more than double by 2030, with 60% of this demand met by fossil fuels, increasing carbon emissions by 220 million tons. Experts are exploring ways to reduce AI's carbon footprint, such as improving algorithm efficiency, rethinking data center design, and leveraging renewable energy. Innovations include turning down GPU energy use, using less energy-intensive hardware, and employing efficiency-boosting measures like pruning neural networks. Researchers are also developing tools and strategies to optimize energy use in data centers, including the use of long-duration energy storage and AI to accelerate renewable energy integration.</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news.mit.edu/2025/responding-to-generative-ai-climate-impact-0930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200" b="1"/>
              <a:t>Introducing apps in ChatGPT and the new Apps SDK</a:t>
            </a:r>
          </a:p>
        </p:txBody>
      </p:sp>
      <p:sp>
        <p:nvSpPr>
          <p:cNvPr id="3" name="TextBox 2"/>
          <p:cNvSpPr txBox="1"/>
          <p:nvPr/>
        </p:nvSpPr>
        <p:spPr>
          <a:xfrm>
            <a:off x="640080" y="1828799"/>
            <a:ext cx="7315200" cy="731520"/>
          </a:xfrm>
          <a:prstGeom prst="rect">
            <a:avLst/>
          </a:prstGeom>
          <a:noFill/>
        </p:spPr>
        <p:txBody>
          <a:bodyPr wrap="square">
            <a:spAutoFit/>
          </a:bodyPr>
          <a:lstStyle/>
          <a:p>
            <a:r>
              <a:rPr sz="1600"/>
              <a:t>Introducing apps in ChatGPT and the new Apps SDK</a:t>
            </a:r>
          </a:p>
        </p:txBody>
      </p:sp>
      <p:sp>
        <p:nvSpPr>
          <p:cNvPr id="4" name="TextBox 3"/>
          <p:cNvSpPr txBox="1"/>
          <p:nvPr/>
        </p:nvSpPr>
        <p:spPr>
          <a:xfrm>
            <a:off x="640080" y="2651760"/>
            <a:ext cx="7315200" cy="3840480"/>
          </a:xfrm>
          <a:prstGeom prst="rect">
            <a:avLst/>
          </a:prstGeom>
          <a:noFill/>
        </p:spPr>
        <p:txBody>
          <a:bodyPr wrap="square">
            <a:spAutoFit/>
          </a:bodyPr>
          <a:lstStyle/>
          <a:p>
            <a:pPr/>
            <a:r>
              <a:t>We’re introducing a new generation of apps you can chat with, right inside ChatGPT. Developers can start building them today with the new Apps SDK, available in preview.</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openai.com/index/introducing-apps-in-chatgpt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200" b="1"/>
              <a:t>Introducing AgentKit, new Evals, and RFT for agents</a:t>
            </a:r>
          </a:p>
        </p:txBody>
      </p:sp>
      <p:sp>
        <p:nvSpPr>
          <p:cNvPr id="3" name="TextBox 2"/>
          <p:cNvSpPr txBox="1"/>
          <p:nvPr/>
        </p:nvSpPr>
        <p:spPr>
          <a:xfrm>
            <a:off x="640080" y="1828799"/>
            <a:ext cx="7315200" cy="731520"/>
          </a:xfrm>
          <a:prstGeom prst="rect">
            <a:avLst/>
          </a:prstGeom>
          <a:noFill/>
        </p:spPr>
        <p:txBody>
          <a:bodyPr wrap="square">
            <a:spAutoFit/>
          </a:bodyPr>
          <a:lstStyle/>
          <a:p>
            <a:r>
              <a:rPr sz="1600"/>
              <a:t>Introducing AgentKit, new Evals, and RFT for agents</a:t>
            </a:r>
          </a:p>
        </p:txBody>
      </p:sp>
      <p:sp>
        <p:nvSpPr>
          <p:cNvPr id="4" name="TextBox 3"/>
          <p:cNvSpPr txBox="1"/>
          <p:nvPr/>
        </p:nvSpPr>
        <p:spPr>
          <a:xfrm>
            <a:off x="640080" y="2651760"/>
            <a:ext cx="7315200" cy="3840480"/>
          </a:xfrm>
          <a:prstGeom prst="rect">
            <a:avLst/>
          </a:prstGeom>
          <a:noFill/>
        </p:spPr>
        <p:txBody>
          <a:bodyPr wrap="square">
            <a:spAutoFit/>
          </a:bodyPr>
          <a:lstStyle/>
          <a:p>
            <a:pPr/>
            <a:r>
              <a:t>Today, we’re releasing  new tools to help developers go from prototype to production faster: AgentKit, expanded evals capabilities, and reinforcement fine-tuning for agents.</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openai.com/index/introducing-agentkit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2400" b="1"/>
              <a:t>From Keywords To Context: Impact And Opportunity For AI-Powered Search In B2B Marketing</a:t>
            </a:r>
          </a:p>
        </p:txBody>
      </p:sp>
      <p:sp>
        <p:nvSpPr>
          <p:cNvPr id="3" name="TextBox 2"/>
          <p:cNvSpPr txBox="1"/>
          <p:nvPr/>
        </p:nvSpPr>
        <p:spPr>
          <a:xfrm>
            <a:off x="640080" y="2240280"/>
            <a:ext cx="7315200" cy="731520"/>
          </a:xfrm>
          <a:prstGeom prst="rect">
            <a:avLst/>
          </a:prstGeom>
          <a:noFill/>
        </p:spPr>
        <p:txBody>
          <a:bodyPr wrap="square">
            <a:spAutoFit/>
          </a:bodyPr>
          <a:lstStyle/>
          <a:p>
            <a:r>
              <a:rPr sz="1600"/>
              <a:t>From Keywords To Context: Impact And Opportunity For AI-Powered Search In B2B Marketing</a:t>
            </a:r>
          </a:p>
        </p:txBody>
      </p:sp>
      <p:sp>
        <p:nvSpPr>
          <p:cNvPr id="4" name="TextBox 3"/>
          <p:cNvSpPr txBox="1"/>
          <p:nvPr/>
        </p:nvSpPr>
        <p:spPr>
          <a:xfrm>
            <a:off x="640080" y="3063240"/>
            <a:ext cx="7315200" cy="3840480"/>
          </a:xfrm>
          <a:prstGeom prst="rect">
            <a:avLst/>
          </a:prstGeom>
          <a:noFill/>
        </p:spPr>
        <p:txBody>
          <a:bodyPr wrap="square">
            <a:spAutoFit/>
          </a:bodyPr>
          <a:lstStyle/>
          <a:p>
            <a:pPr/>
            <a:r>
              <a:t>AI-powered search is transforming B2B marketing by enabling buyers to find contextually relevant and credible information, with 95% of buyers planning to use generative AI in future purchases. This shift requires B2B marketers to create content that is authoritative and discoverable by both humans and AI, as organic search click-through rates decline but post-click engagement quality rises. Marketers must optimize for AI-powered answer engines and zero-click search behavior by establishing content authority, optimizing websites for AI and human visitors, enabling frontline marketing, aligning revenue processes with AI insights, and advancing content intelligence. A holistic approach is necessary to thrive in this new AI search ecosystem, focusing on quality, uniqueness, and human connection in content.</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forrester.com/blogs/from-keywords-to-context-impact-and-opportunity-for-ai-powered-search-in-b2b-marketing/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200" b="1"/>
              <a:t>Transforming Supply Chain Management with AI Agents</a:t>
            </a:r>
          </a:p>
        </p:txBody>
      </p:sp>
      <p:sp>
        <p:nvSpPr>
          <p:cNvPr id="3" name="TextBox 2"/>
          <p:cNvSpPr txBox="1"/>
          <p:nvPr/>
        </p:nvSpPr>
        <p:spPr>
          <a:xfrm>
            <a:off x="640080" y="1828799"/>
            <a:ext cx="7315200" cy="731520"/>
          </a:xfrm>
          <a:prstGeom prst="rect">
            <a:avLst/>
          </a:prstGeom>
          <a:noFill/>
        </p:spPr>
        <p:txBody>
          <a:bodyPr wrap="square">
            <a:spAutoFit/>
          </a:bodyPr>
          <a:lstStyle/>
          <a:p>
            <a:r>
              <a:rPr sz="1600"/>
              <a:t>Transforming Supply Chain Management with AI Agents</a:t>
            </a:r>
          </a:p>
        </p:txBody>
      </p:sp>
      <p:sp>
        <p:nvSpPr>
          <p:cNvPr id="4" name="TextBox 3"/>
          <p:cNvSpPr txBox="1"/>
          <p:nvPr/>
        </p:nvSpPr>
        <p:spPr>
          <a:xfrm>
            <a:off x="640080" y="2651760"/>
            <a:ext cx="7315200" cy="3840480"/>
          </a:xfrm>
          <a:prstGeom prst="rect">
            <a:avLst/>
          </a:prstGeom>
          <a:noFill/>
        </p:spPr>
        <p:txBody>
          <a:bodyPr wrap="square">
            <a:spAutoFit/>
          </a:bodyPr>
          <a:lstStyle/>
          <a:p>
            <a:pPr/>
            <a:r>
              <a:t>In the article, the importance of efficiently managing supply chains is highlighted, particularly in the face of global economic uncertainties and disruptions. It discusses the use of agentic systems that combine large reasoning models with mathematical optimization to democratize supply chain technologies, making them accessible to managers without extensive technical expertise. The article emphasizes the benefits of using Databricks to build and deploy these systems, showcasing its capabilities in integrating AI agents with deterministic optimization tools across major cloud providers. The approach aims to enhance decision-making in supply chain management by providing transparent, explainable, and actionable insights, ultimately reducing dependency on expert-driven models and manual decision-making.</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databricks.com/blog/transforming-supply-chain-management-ai-agents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